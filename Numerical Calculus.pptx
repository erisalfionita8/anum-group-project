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Lilita One" charset="1" panose="02000000000000000000"/>
      <p:regular r:id="rId30"/>
    </p:embeddedFont>
    <p:embeddedFont>
      <p:font typeface="Now Bold" charset="1" panose="00000800000000000000"/>
      <p:regular r:id="rId31"/>
    </p:embeddedFont>
    <p:embeddedFont>
      <p:font typeface="Monterchi" charset="1" panose="02000503060000020004"/>
      <p:regular r:id="rId32"/>
    </p:embeddedFont>
    <p:embeddedFont>
      <p:font typeface="Bugaki" charset="1" panose="00000000000000000000"/>
      <p:regular r:id="rId33"/>
    </p:embeddedFont>
    <p:embeddedFont>
      <p:font typeface="Now" charset="1" panose="000005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svg" Type="http://schemas.openxmlformats.org/officeDocument/2006/relationships/image"/><Relationship Id="rId12" Target="../media/image52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11" Target="../media/image63.png" Type="http://schemas.openxmlformats.org/officeDocument/2006/relationships/image"/><Relationship Id="rId12" Target="../media/image64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13" Target="../media/image67.png" Type="http://schemas.openxmlformats.org/officeDocument/2006/relationships/image"/><Relationship Id="rId14" Target="../media/image68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svg" Type="http://schemas.openxmlformats.org/officeDocument/2006/relationships/image"/><Relationship Id="rId12" Target="../media/image79.png" Type="http://schemas.openxmlformats.org/officeDocument/2006/relationships/image"/><Relationship Id="rId13" Target="../media/image80.png" Type="http://schemas.openxmlformats.org/officeDocument/2006/relationships/image"/><Relationship Id="rId14" Target="../media/image81.svg" Type="http://schemas.openxmlformats.org/officeDocument/2006/relationships/image"/><Relationship Id="rId2" Target="../media/image69.png" Type="http://schemas.openxmlformats.org/officeDocument/2006/relationships/image"/><Relationship Id="rId3" Target="../media/image70.svg" Type="http://schemas.openxmlformats.org/officeDocument/2006/relationships/image"/><Relationship Id="rId4" Target="../media/image71.png" Type="http://schemas.openxmlformats.org/officeDocument/2006/relationships/image"/><Relationship Id="rId5" Target="../media/image72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75.png" Type="http://schemas.openxmlformats.org/officeDocument/2006/relationships/image"/><Relationship Id="rId9" Target="../media/image7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2" Target="../media/image69.png" Type="http://schemas.openxmlformats.org/officeDocument/2006/relationships/image"/><Relationship Id="rId3" Target="../media/image70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82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0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84.png" Type="http://schemas.openxmlformats.org/officeDocument/2006/relationships/image"/><Relationship Id="rId7" Target="../media/image85.png" Type="http://schemas.openxmlformats.org/officeDocument/2006/relationships/image"/><Relationship Id="rId8" Target="../media/image8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png" Type="http://schemas.openxmlformats.org/officeDocument/2006/relationships/image"/><Relationship Id="rId11" Target="../media/image92.svg" Type="http://schemas.openxmlformats.org/officeDocument/2006/relationships/image"/><Relationship Id="rId12" Target="../media/image48.png" Type="http://schemas.openxmlformats.org/officeDocument/2006/relationships/image"/><Relationship Id="rId2" Target="../media/image69.png" Type="http://schemas.openxmlformats.org/officeDocument/2006/relationships/image"/><Relationship Id="rId3" Target="../media/image70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87.png" Type="http://schemas.openxmlformats.org/officeDocument/2006/relationships/image"/><Relationship Id="rId7" Target="../media/image88.png" Type="http://schemas.openxmlformats.org/officeDocument/2006/relationships/image"/><Relationship Id="rId8" Target="../media/image89.png" Type="http://schemas.openxmlformats.org/officeDocument/2006/relationships/image"/><Relationship Id="rId9" Target="../media/image9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7.png" Type="http://schemas.openxmlformats.org/officeDocument/2006/relationships/image"/><Relationship Id="rId2" Target="../media/image69.png" Type="http://schemas.openxmlformats.org/officeDocument/2006/relationships/image"/><Relationship Id="rId3" Target="../media/image70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93.png" Type="http://schemas.openxmlformats.org/officeDocument/2006/relationships/image"/><Relationship Id="rId7" Target="../media/image94.png" Type="http://schemas.openxmlformats.org/officeDocument/2006/relationships/image"/><Relationship Id="rId8" Target="../media/image95.png" Type="http://schemas.openxmlformats.org/officeDocument/2006/relationships/image"/><Relationship Id="rId9" Target="../media/image9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11" Target="../media/image103.png" Type="http://schemas.openxmlformats.org/officeDocument/2006/relationships/image"/><Relationship Id="rId12" Target="../media/image104.png" Type="http://schemas.openxmlformats.org/officeDocument/2006/relationships/image"/><Relationship Id="rId13" Target="../media/image105.png" Type="http://schemas.openxmlformats.org/officeDocument/2006/relationships/image"/><Relationship Id="rId14" Target="../media/image106.png" Type="http://schemas.openxmlformats.org/officeDocument/2006/relationships/image"/><Relationship Id="rId15" Target="../media/image107.png" Type="http://schemas.openxmlformats.org/officeDocument/2006/relationships/image"/><Relationship Id="rId16" Target="../media/image108.png" Type="http://schemas.openxmlformats.org/officeDocument/2006/relationships/image"/><Relationship Id="rId17" Target="../media/image109.png" Type="http://schemas.openxmlformats.org/officeDocument/2006/relationships/image"/><Relationship Id="rId18" Target="../media/image110.png" Type="http://schemas.openxmlformats.org/officeDocument/2006/relationships/image"/><Relationship Id="rId19" Target="../media/image111.png" Type="http://schemas.openxmlformats.org/officeDocument/2006/relationships/image"/><Relationship Id="rId2" Target="../media/image69.png" Type="http://schemas.openxmlformats.org/officeDocument/2006/relationships/image"/><Relationship Id="rId20" Target="../media/image112.png" Type="http://schemas.openxmlformats.org/officeDocument/2006/relationships/image"/><Relationship Id="rId21" Target="../media/image113.png" Type="http://schemas.openxmlformats.org/officeDocument/2006/relationships/image"/><Relationship Id="rId22" Target="../media/image114.png" Type="http://schemas.openxmlformats.org/officeDocument/2006/relationships/image"/><Relationship Id="rId23" Target="../media/image115.png" Type="http://schemas.openxmlformats.org/officeDocument/2006/relationships/image"/><Relationship Id="rId24" Target="../media/image116.png" Type="http://schemas.openxmlformats.org/officeDocument/2006/relationships/image"/><Relationship Id="rId25" Target="../media/image117.png" Type="http://schemas.openxmlformats.org/officeDocument/2006/relationships/image"/><Relationship Id="rId26" Target="../media/image118.png" Type="http://schemas.openxmlformats.org/officeDocument/2006/relationships/image"/><Relationship Id="rId27" Target="../media/image119.svg" Type="http://schemas.openxmlformats.org/officeDocument/2006/relationships/image"/><Relationship Id="rId28" Target="../media/image120.png" Type="http://schemas.openxmlformats.org/officeDocument/2006/relationships/image"/><Relationship Id="rId29" Target="../media/image121.svg" Type="http://schemas.openxmlformats.org/officeDocument/2006/relationships/image"/><Relationship Id="rId3" Target="../media/image70.svg" Type="http://schemas.openxmlformats.org/officeDocument/2006/relationships/image"/><Relationship Id="rId30" Target="../media/image16.png" Type="http://schemas.openxmlformats.org/officeDocument/2006/relationships/image"/><Relationship Id="rId31" Target="../media/image122.png" Type="http://schemas.openxmlformats.org/officeDocument/2006/relationships/image"/><Relationship Id="rId32" Target="../media/image123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Relationship Id="rId9" Target="../media/image10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svg" Type="http://schemas.openxmlformats.org/officeDocument/2006/relationships/image"/><Relationship Id="rId12" Target="../media/image126.png" Type="http://schemas.openxmlformats.org/officeDocument/2006/relationships/image"/><Relationship Id="rId13" Target="../media/image127.png" Type="http://schemas.openxmlformats.org/officeDocument/2006/relationships/image"/><Relationship Id="rId14" Target="../media/image37.png" Type="http://schemas.openxmlformats.org/officeDocument/2006/relationships/image"/><Relationship Id="rId2" Target="../media/image69.png" Type="http://schemas.openxmlformats.org/officeDocument/2006/relationships/image"/><Relationship Id="rId3" Target="../media/image70.svg" Type="http://schemas.openxmlformats.org/officeDocument/2006/relationships/image"/><Relationship Id="rId4" Target="../media/image124.png" Type="http://schemas.openxmlformats.org/officeDocument/2006/relationships/image"/><Relationship Id="rId5" Target="../media/image125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75.png" Type="http://schemas.openxmlformats.org/officeDocument/2006/relationships/image"/><Relationship Id="rId9" Target="../media/image7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2.png" Type="http://schemas.openxmlformats.org/officeDocument/2006/relationships/image"/><Relationship Id="rId11" Target="../media/image133.svg" Type="http://schemas.openxmlformats.org/officeDocument/2006/relationships/image"/><Relationship Id="rId12" Target="../media/image134.png" Type="http://schemas.openxmlformats.org/officeDocument/2006/relationships/image"/><Relationship Id="rId13" Target="../media/image135.svg" Type="http://schemas.openxmlformats.org/officeDocument/2006/relationships/image"/><Relationship Id="rId14" Target="../media/image136.png" Type="http://schemas.openxmlformats.org/officeDocument/2006/relationships/image"/><Relationship Id="rId15" Target="../media/image137.svg" Type="http://schemas.openxmlformats.org/officeDocument/2006/relationships/image"/><Relationship Id="rId16" Target="../media/image84.png" Type="http://schemas.openxmlformats.org/officeDocument/2006/relationships/image"/><Relationship Id="rId17" Target="../media/image138.png" Type="http://schemas.openxmlformats.org/officeDocument/2006/relationships/image"/><Relationship Id="rId18" Target="../media/image13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8.png" Type="http://schemas.openxmlformats.org/officeDocument/2006/relationships/image"/><Relationship Id="rId7" Target="../media/image129.svg" Type="http://schemas.openxmlformats.org/officeDocument/2006/relationships/image"/><Relationship Id="rId8" Target="../media/image130.png" Type="http://schemas.openxmlformats.org/officeDocument/2006/relationships/image"/><Relationship Id="rId9" Target="../media/image13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svg" Type="http://schemas.openxmlformats.org/officeDocument/2006/relationships/image"/><Relationship Id="rId11" Target="../media/image134.png" Type="http://schemas.openxmlformats.org/officeDocument/2006/relationships/image"/><Relationship Id="rId12" Target="../media/image135.svg" Type="http://schemas.openxmlformats.org/officeDocument/2006/relationships/image"/><Relationship Id="rId13" Target="../media/image136.png" Type="http://schemas.openxmlformats.org/officeDocument/2006/relationships/image"/><Relationship Id="rId14" Target="../media/image137.svg" Type="http://schemas.openxmlformats.org/officeDocument/2006/relationships/image"/><Relationship Id="rId15" Target="../media/image141.png" Type="http://schemas.openxmlformats.org/officeDocument/2006/relationships/image"/><Relationship Id="rId16" Target="../media/image142.png" Type="http://schemas.openxmlformats.org/officeDocument/2006/relationships/image"/><Relationship Id="rId17" Target="../media/image143.png" Type="http://schemas.openxmlformats.org/officeDocument/2006/relationships/image"/><Relationship Id="rId18" Target="../media/image14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40.png" Type="http://schemas.openxmlformats.org/officeDocument/2006/relationships/image"/><Relationship Id="rId7" Target="../media/image130.png" Type="http://schemas.openxmlformats.org/officeDocument/2006/relationships/image"/><Relationship Id="rId8" Target="../media/image131.svg" Type="http://schemas.openxmlformats.org/officeDocument/2006/relationships/image"/><Relationship Id="rId9" Target="../media/image13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149.png" Type="http://schemas.openxmlformats.org/officeDocument/2006/relationships/image"/><Relationship Id="rId12" Target="../media/image150.png" Type="http://schemas.openxmlformats.org/officeDocument/2006/relationships/image"/><Relationship Id="rId13" Target="../media/image151.png" Type="http://schemas.openxmlformats.org/officeDocument/2006/relationships/image"/><Relationship Id="rId14" Target="../media/image15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5.png" Type="http://schemas.openxmlformats.org/officeDocument/2006/relationships/image"/><Relationship Id="rId7" Target="../media/image146.svg" Type="http://schemas.openxmlformats.org/officeDocument/2006/relationships/image"/><Relationship Id="rId8" Target="../media/image147.png" Type="http://schemas.openxmlformats.org/officeDocument/2006/relationships/image"/><Relationship Id="rId9" Target="../media/image14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5.png" Type="http://schemas.openxmlformats.org/officeDocument/2006/relationships/image"/><Relationship Id="rId11" Target="../media/image156.svg" Type="http://schemas.openxmlformats.org/officeDocument/2006/relationships/image"/><Relationship Id="rId12" Target="../media/image157.png" Type="http://schemas.openxmlformats.org/officeDocument/2006/relationships/image"/><Relationship Id="rId13" Target="../media/image158.png" Type="http://schemas.openxmlformats.org/officeDocument/2006/relationships/image"/><Relationship Id="rId14" Target="../media/image159.png" Type="http://schemas.openxmlformats.org/officeDocument/2006/relationships/image"/><Relationship Id="rId15" Target="../media/image160.png" Type="http://schemas.openxmlformats.org/officeDocument/2006/relationships/image"/><Relationship Id="rId16" Target="../media/image161.png" Type="http://schemas.openxmlformats.org/officeDocument/2006/relationships/image"/><Relationship Id="rId17" Target="../media/image162.png" Type="http://schemas.openxmlformats.org/officeDocument/2006/relationships/image"/><Relationship Id="rId18" Target="../media/image163.png" Type="http://schemas.openxmlformats.org/officeDocument/2006/relationships/image"/><Relationship Id="rId19" Target="../media/image164.png" Type="http://schemas.openxmlformats.org/officeDocument/2006/relationships/image"/><Relationship Id="rId2" Target="../media/image1.png" Type="http://schemas.openxmlformats.org/officeDocument/2006/relationships/image"/><Relationship Id="rId20" Target="../media/image165.png" Type="http://schemas.openxmlformats.org/officeDocument/2006/relationships/image"/><Relationship Id="rId21" Target="../media/image166.png" Type="http://schemas.openxmlformats.org/officeDocument/2006/relationships/image"/><Relationship Id="rId22" Target="../media/image167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3.png" Type="http://schemas.openxmlformats.org/officeDocument/2006/relationships/image"/><Relationship Id="rId7" Target="../media/image154.svg" Type="http://schemas.openxmlformats.org/officeDocument/2006/relationships/image"/><Relationship Id="rId8" Target="../media/image134.png" Type="http://schemas.openxmlformats.org/officeDocument/2006/relationships/image"/><Relationship Id="rId9" Target="../media/image13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5.png" Type="http://schemas.openxmlformats.org/officeDocument/2006/relationships/image"/><Relationship Id="rId11" Target="../media/image156.svg" Type="http://schemas.openxmlformats.org/officeDocument/2006/relationships/image"/><Relationship Id="rId12" Target="../media/image16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3.png" Type="http://schemas.openxmlformats.org/officeDocument/2006/relationships/image"/><Relationship Id="rId7" Target="../media/image154.svg" Type="http://schemas.openxmlformats.org/officeDocument/2006/relationships/image"/><Relationship Id="rId8" Target="../media/image134.png" Type="http://schemas.openxmlformats.org/officeDocument/2006/relationships/image"/><Relationship Id="rId9" Target="../media/image13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3.svg" Type="http://schemas.openxmlformats.org/officeDocument/2006/relationships/image"/><Relationship Id="rId11" Target="../media/image174.png" Type="http://schemas.openxmlformats.org/officeDocument/2006/relationships/image"/><Relationship Id="rId12" Target="../media/image17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9.png" Type="http://schemas.openxmlformats.org/officeDocument/2006/relationships/image"/><Relationship Id="rId5" Target="../media/image170.svg" Type="http://schemas.openxmlformats.org/officeDocument/2006/relationships/image"/><Relationship Id="rId6" Target="../media/image171.pn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17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407834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566215">
            <a:off x="7159067" y="3989699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90650"/>
            <a:ext cx="13632358" cy="4327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4"/>
              </a:lnSpc>
            </a:pPr>
            <a:r>
              <a:rPr lang="en-US" sz="17066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NUMERICAL CALCULUS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925913">
            <a:off x="8028233" y="5389544"/>
            <a:ext cx="11084938" cy="7025079"/>
          </a:xfrm>
          <a:custGeom>
            <a:avLst/>
            <a:gdLst/>
            <a:ahLst/>
            <a:cxnLst/>
            <a:rect r="r" b="b" t="t" l="l"/>
            <a:pathLst>
              <a:path h="7025079" w="11084938">
                <a:moveTo>
                  <a:pt x="0" y="0"/>
                </a:moveTo>
                <a:lnTo>
                  <a:pt x="11084938" y="0"/>
                </a:lnTo>
                <a:lnTo>
                  <a:pt x="11084938" y="7025079"/>
                </a:lnTo>
                <a:lnTo>
                  <a:pt x="0" y="70250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62666">
            <a:off x="11378157" y="4081603"/>
            <a:ext cx="1374265" cy="905452"/>
          </a:xfrm>
          <a:custGeom>
            <a:avLst/>
            <a:gdLst/>
            <a:ahLst/>
            <a:cxnLst/>
            <a:rect r="r" b="b" t="t" l="l"/>
            <a:pathLst>
              <a:path h="905452" w="1374265">
                <a:moveTo>
                  <a:pt x="0" y="0"/>
                </a:moveTo>
                <a:lnTo>
                  <a:pt x="1374265" y="0"/>
                </a:lnTo>
                <a:lnTo>
                  <a:pt x="1374265" y="905452"/>
                </a:lnTo>
                <a:lnTo>
                  <a:pt x="0" y="905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700000">
            <a:off x="4766873" y="7800746"/>
            <a:ext cx="1374265" cy="905452"/>
          </a:xfrm>
          <a:custGeom>
            <a:avLst/>
            <a:gdLst/>
            <a:ahLst/>
            <a:cxnLst/>
            <a:rect r="r" b="b" t="t" l="l"/>
            <a:pathLst>
              <a:path h="905452" w="1374265">
                <a:moveTo>
                  <a:pt x="0" y="0"/>
                </a:moveTo>
                <a:lnTo>
                  <a:pt x="1374265" y="0"/>
                </a:lnTo>
                <a:lnTo>
                  <a:pt x="1374265" y="905452"/>
                </a:lnTo>
                <a:lnTo>
                  <a:pt x="0" y="905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1155823">
            <a:off x="11141600" y="388235"/>
            <a:ext cx="3403437" cy="1280930"/>
          </a:xfrm>
          <a:custGeom>
            <a:avLst/>
            <a:gdLst/>
            <a:ahLst/>
            <a:cxnLst/>
            <a:rect r="r" b="b" t="t" l="l"/>
            <a:pathLst>
              <a:path h="1280930" w="3403437">
                <a:moveTo>
                  <a:pt x="0" y="0"/>
                </a:moveTo>
                <a:lnTo>
                  <a:pt x="3403437" y="0"/>
                </a:lnTo>
                <a:lnTo>
                  <a:pt x="3403437" y="1280930"/>
                </a:lnTo>
                <a:lnTo>
                  <a:pt x="0" y="12809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623904"/>
            <a:ext cx="7743463" cy="93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1"/>
              </a:lnSpc>
            </a:pPr>
            <a:r>
              <a:rPr lang="en-US" sz="5486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  PRESENTED BY TEAM 6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968758"/>
            <a:ext cx="4187783" cy="477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7"/>
              </a:lnSpc>
            </a:pPr>
            <a:r>
              <a:rPr lang="en-US" b="true" sz="3603" spc="-14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Numerical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5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407834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144000" y="1541769"/>
            <a:ext cx="3215806" cy="32158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6654" r="-60339" b="-1368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043494" y="1541769"/>
            <a:ext cx="3215806" cy="32158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65676" t="-51790" r="0" b="-1388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595267" y="5703123"/>
            <a:ext cx="3215806" cy="321580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785" r="0" b="-2785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-3537821">
            <a:off x="15970366" y="9189129"/>
            <a:ext cx="2577867" cy="1247085"/>
          </a:xfrm>
          <a:custGeom>
            <a:avLst/>
            <a:gdLst/>
            <a:ahLst/>
            <a:cxnLst/>
            <a:rect r="r" b="b" t="t" l="l"/>
            <a:pathLst>
              <a:path h="1247085" w="2577867">
                <a:moveTo>
                  <a:pt x="0" y="0"/>
                </a:moveTo>
                <a:lnTo>
                  <a:pt x="2577868" y="0"/>
                </a:lnTo>
                <a:lnTo>
                  <a:pt x="2577868" y="1247085"/>
                </a:lnTo>
                <a:lnTo>
                  <a:pt x="0" y="12470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100000">
            <a:off x="-2628380" y="4902478"/>
            <a:ext cx="10823649" cy="10313634"/>
          </a:xfrm>
          <a:custGeom>
            <a:avLst/>
            <a:gdLst/>
            <a:ahLst/>
            <a:cxnLst/>
            <a:rect r="r" b="b" t="t" l="l"/>
            <a:pathLst>
              <a:path h="10313634" w="10823649">
                <a:moveTo>
                  <a:pt x="0" y="0"/>
                </a:moveTo>
                <a:lnTo>
                  <a:pt x="10823649" y="0"/>
                </a:lnTo>
                <a:lnTo>
                  <a:pt x="10823649" y="10313635"/>
                </a:lnTo>
                <a:lnTo>
                  <a:pt x="0" y="103136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223383" y="4378683"/>
            <a:ext cx="6866798" cy="6480540"/>
          </a:xfrm>
          <a:custGeom>
            <a:avLst/>
            <a:gdLst/>
            <a:ahLst/>
            <a:cxnLst/>
            <a:rect r="r" b="b" t="t" l="l"/>
            <a:pathLst>
              <a:path h="6480540" w="6866798">
                <a:moveTo>
                  <a:pt x="6866798" y="0"/>
                </a:moveTo>
                <a:lnTo>
                  <a:pt x="0" y="0"/>
                </a:lnTo>
                <a:lnTo>
                  <a:pt x="0" y="6480541"/>
                </a:lnTo>
                <a:lnTo>
                  <a:pt x="6866798" y="6480541"/>
                </a:lnTo>
                <a:lnTo>
                  <a:pt x="6866798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77637" y="2192435"/>
            <a:ext cx="6024402" cy="208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3"/>
              </a:lnSpc>
            </a:pPr>
            <a:r>
              <a:rPr lang="en-US" sz="8188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MEET</a:t>
            </a:r>
          </a:p>
          <a:p>
            <a:pPr algn="l">
              <a:lnSpc>
                <a:spcPts val="7943"/>
              </a:lnSpc>
            </a:pPr>
            <a:r>
              <a:rPr lang="en-US" sz="8188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OUR TEAM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179754">
            <a:off x="3763735" y="231404"/>
            <a:ext cx="4831997" cy="1996970"/>
          </a:xfrm>
          <a:custGeom>
            <a:avLst/>
            <a:gdLst/>
            <a:ahLst/>
            <a:cxnLst/>
            <a:rect r="r" b="b" t="t" l="l"/>
            <a:pathLst>
              <a:path h="1996970" w="4831997">
                <a:moveTo>
                  <a:pt x="0" y="0"/>
                </a:moveTo>
                <a:lnTo>
                  <a:pt x="4831998" y="0"/>
                </a:lnTo>
                <a:lnTo>
                  <a:pt x="4831998" y="1996970"/>
                </a:lnTo>
                <a:lnTo>
                  <a:pt x="0" y="19969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862666">
            <a:off x="16382157" y="604897"/>
            <a:ext cx="1212462" cy="798846"/>
          </a:xfrm>
          <a:custGeom>
            <a:avLst/>
            <a:gdLst/>
            <a:ahLst/>
            <a:cxnLst/>
            <a:rect r="r" b="b" t="t" l="l"/>
            <a:pathLst>
              <a:path h="798846" w="1212462">
                <a:moveTo>
                  <a:pt x="0" y="0"/>
                </a:moveTo>
                <a:lnTo>
                  <a:pt x="1212462" y="0"/>
                </a:lnTo>
                <a:lnTo>
                  <a:pt x="1212462" y="798847"/>
                </a:lnTo>
                <a:lnTo>
                  <a:pt x="0" y="79884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8728356" y="4403725"/>
            <a:ext cx="4047094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15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Eris Alfionita</a:t>
            </a:r>
          </a:p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(24083010032)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16374" y="8665470"/>
            <a:ext cx="3973594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15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Elina putri</a:t>
            </a:r>
          </a:p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15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(24083010085)</a:t>
            </a:r>
          </a:p>
        </p:txBody>
      </p:sp>
      <p:sp>
        <p:nvSpPr>
          <p:cNvPr name="TextBox 17" id="17"/>
          <p:cNvSpPr txBox="true"/>
          <p:nvPr/>
        </p:nvSpPr>
        <p:spPr>
          <a:xfrm rot="-159159">
            <a:off x="13441589" y="4403766"/>
            <a:ext cx="4816958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15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Alifah Zuhrah</a:t>
            </a:r>
          </a:p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15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(24083010033)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407834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570389" y="3186962"/>
            <a:ext cx="967888" cy="485903"/>
          </a:xfrm>
          <a:custGeom>
            <a:avLst/>
            <a:gdLst/>
            <a:ahLst/>
            <a:cxnLst/>
            <a:rect r="r" b="b" t="t" l="l"/>
            <a:pathLst>
              <a:path h="485903" w="967888">
                <a:moveTo>
                  <a:pt x="0" y="0"/>
                </a:moveTo>
                <a:lnTo>
                  <a:pt x="967888" y="0"/>
                </a:lnTo>
                <a:lnTo>
                  <a:pt x="967888" y="485903"/>
                </a:lnTo>
                <a:lnTo>
                  <a:pt x="0" y="485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4550443" y="4870871"/>
            <a:ext cx="967888" cy="485903"/>
          </a:xfrm>
          <a:custGeom>
            <a:avLst/>
            <a:gdLst/>
            <a:ahLst/>
            <a:cxnLst/>
            <a:rect r="r" b="b" t="t" l="l"/>
            <a:pathLst>
              <a:path h="485903" w="967888">
                <a:moveTo>
                  <a:pt x="0" y="0"/>
                </a:moveTo>
                <a:lnTo>
                  <a:pt x="967889" y="0"/>
                </a:lnTo>
                <a:lnTo>
                  <a:pt x="967889" y="485903"/>
                </a:lnTo>
                <a:lnTo>
                  <a:pt x="0" y="485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4570389" y="6554780"/>
            <a:ext cx="967888" cy="485903"/>
          </a:xfrm>
          <a:custGeom>
            <a:avLst/>
            <a:gdLst/>
            <a:ahLst/>
            <a:cxnLst/>
            <a:rect r="r" b="b" t="t" l="l"/>
            <a:pathLst>
              <a:path h="485903" w="967888">
                <a:moveTo>
                  <a:pt x="0" y="0"/>
                </a:moveTo>
                <a:lnTo>
                  <a:pt x="967888" y="0"/>
                </a:lnTo>
                <a:lnTo>
                  <a:pt x="967888" y="485903"/>
                </a:lnTo>
                <a:lnTo>
                  <a:pt x="0" y="485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4550443" y="8238689"/>
            <a:ext cx="967888" cy="485903"/>
          </a:xfrm>
          <a:custGeom>
            <a:avLst/>
            <a:gdLst/>
            <a:ahLst/>
            <a:cxnLst/>
            <a:rect r="r" b="b" t="t" l="l"/>
            <a:pathLst>
              <a:path h="485903" w="967888">
                <a:moveTo>
                  <a:pt x="0" y="0"/>
                </a:moveTo>
                <a:lnTo>
                  <a:pt x="967889" y="0"/>
                </a:lnTo>
                <a:lnTo>
                  <a:pt x="967889" y="485903"/>
                </a:lnTo>
                <a:lnTo>
                  <a:pt x="0" y="485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4890311" y="8293442"/>
            <a:ext cx="967888" cy="485903"/>
          </a:xfrm>
          <a:custGeom>
            <a:avLst/>
            <a:gdLst/>
            <a:ahLst/>
            <a:cxnLst/>
            <a:rect r="r" b="b" t="t" l="l"/>
            <a:pathLst>
              <a:path h="485903" w="967888">
                <a:moveTo>
                  <a:pt x="0" y="0"/>
                </a:moveTo>
                <a:lnTo>
                  <a:pt x="967888" y="0"/>
                </a:lnTo>
                <a:lnTo>
                  <a:pt x="967888" y="485903"/>
                </a:lnTo>
                <a:lnTo>
                  <a:pt x="0" y="485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4890311" y="6609533"/>
            <a:ext cx="967888" cy="485903"/>
          </a:xfrm>
          <a:custGeom>
            <a:avLst/>
            <a:gdLst/>
            <a:ahLst/>
            <a:cxnLst/>
            <a:rect r="r" b="b" t="t" l="l"/>
            <a:pathLst>
              <a:path h="485903" w="967888">
                <a:moveTo>
                  <a:pt x="0" y="0"/>
                </a:moveTo>
                <a:lnTo>
                  <a:pt x="967888" y="0"/>
                </a:lnTo>
                <a:lnTo>
                  <a:pt x="967888" y="485903"/>
                </a:lnTo>
                <a:lnTo>
                  <a:pt x="0" y="485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4890311" y="4925624"/>
            <a:ext cx="967888" cy="485903"/>
          </a:xfrm>
          <a:custGeom>
            <a:avLst/>
            <a:gdLst/>
            <a:ahLst/>
            <a:cxnLst/>
            <a:rect r="r" b="b" t="t" l="l"/>
            <a:pathLst>
              <a:path h="485903" w="967888">
                <a:moveTo>
                  <a:pt x="0" y="0"/>
                </a:moveTo>
                <a:lnTo>
                  <a:pt x="967888" y="0"/>
                </a:lnTo>
                <a:lnTo>
                  <a:pt x="967888" y="485904"/>
                </a:lnTo>
                <a:lnTo>
                  <a:pt x="0" y="485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4960148" y="3241715"/>
            <a:ext cx="967888" cy="485903"/>
          </a:xfrm>
          <a:custGeom>
            <a:avLst/>
            <a:gdLst/>
            <a:ahLst/>
            <a:cxnLst/>
            <a:rect r="r" b="b" t="t" l="l"/>
            <a:pathLst>
              <a:path h="485903" w="967888">
                <a:moveTo>
                  <a:pt x="0" y="0"/>
                </a:moveTo>
                <a:lnTo>
                  <a:pt x="967889" y="0"/>
                </a:lnTo>
                <a:lnTo>
                  <a:pt x="967889" y="485904"/>
                </a:lnTo>
                <a:lnTo>
                  <a:pt x="0" y="485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548484" y="1882997"/>
            <a:ext cx="10895609" cy="7082588"/>
            <a:chOff x="0" y="0"/>
            <a:chExt cx="14527478" cy="944345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4527478" cy="9443451"/>
              <a:chOff x="0" y="0"/>
              <a:chExt cx="2656681" cy="17269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-564"/>
                <a:ext cx="2657004" cy="1724975"/>
              </a:xfrm>
              <a:custGeom>
                <a:avLst/>
                <a:gdLst/>
                <a:ahLst/>
                <a:cxnLst/>
                <a:rect r="r" b="b" t="t" l="l"/>
                <a:pathLst>
                  <a:path h="1724975" w="2657004">
                    <a:moveTo>
                      <a:pt x="2646521" y="27234"/>
                    </a:moveTo>
                    <a:cubicBezTo>
                      <a:pt x="2637631" y="23424"/>
                      <a:pt x="2628741" y="20884"/>
                      <a:pt x="2619851" y="20884"/>
                    </a:cubicBezTo>
                    <a:cubicBezTo>
                      <a:pt x="2593181" y="19614"/>
                      <a:pt x="2553789" y="19614"/>
                      <a:pt x="2511011" y="17074"/>
                    </a:cubicBezTo>
                    <a:cubicBezTo>
                      <a:pt x="2413234" y="11994"/>
                      <a:pt x="2317494" y="5644"/>
                      <a:pt x="2219717" y="3104"/>
                    </a:cubicBezTo>
                    <a:cubicBezTo>
                      <a:pt x="2140274" y="564"/>
                      <a:pt x="2062867" y="3104"/>
                      <a:pt x="1983423" y="1834"/>
                    </a:cubicBezTo>
                    <a:cubicBezTo>
                      <a:pt x="1948794" y="1834"/>
                      <a:pt x="1914164" y="-706"/>
                      <a:pt x="1879535" y="1834"/>
                    </a:cubicBezTo>
                    <a:cubicBezTo>
                      <a:pt x="1796017" y="9454"/>
                      <a:pt x="1712499" y="10724"/>
                      <a:pt x="1626944" y="8184"/>
                    </a:cubicBezTo>
                    <a:cubicBezTo>
                      <a:pt x="1584167" y="6914"/>
                      <a:pt x="1541390" y="6914"/>
                      <a:pt x="1498612" y="6914"/>
                    </a:cubicBezTo>
                    <a:cubicBezTo>
                      <a:pt x="1421205" y="6914"/>
                      <a:pt x="1343799" y="6914"/>
                      <a:pt x="1266392" y="5644"/>
                    </a:cubicBezTo>
                    <a:cubicBezTo>
                      <a:pt x="1184911" y="4374"/>
                      <a:pt x="382325" y="1834"/>
                      <a:pt x="302882" y="564"/>
                    </a:cubicBezTo>
                    <a:cubicBezTo>
                      <a:pt x="237697" y="-706"/>
                      <a:pt x="174549" y="564"/>
                      <a:pt x="109365" y="564"/>
                    </a:cubicBezTo>
                    <a:cubicBezTo>
                      <a:pt x="64550" y="564"/>
                      <a:pt x="33020" y="3104"/>
                      <a:pt x="5080" y="4374"/>
                    </a:cubicBezTo>
                    <a:cubicBezTo>
                      <a:pt x="3810" y="4374"/>
                      <a:pt x="2540" y="6914"/>
                      <a:pt x="0" y="8184"/>
                    </a:cubicBezTo>
                    <a:cubicBezTo>
                      <a:pt x="1270" y="20884"/>
                      <a:pt x="3810" y="33584"/>
                      <a:pt x="5080" y="46284"/>
                    </a:cubicBezTo>
                    <a:cubicBezTo>
                      <a:pt x="15240" y="117984"/>
                      <a:pt x="16510" y="191177"/>
                      <a:pt x="17780" y="263087"/>
                    </a:cubicBezTo>
                    <a:cubicBezTo>
                      <a:pt x="19050" y="336281"/>
                      <a:pt x="17780" y="409474"/>
                      <a:pt x="16510" y="483952"/>
                    </a:cubicBezTo>
                    <a:cubicBezTo>
                      <a:pt x="15240" y="559714"/>
                      <a:pt x="2540" y="1354572"/>
                      <a:pt x="2540" y="1430334"/>
                    </a:cubicBezTo>
                    <a:cubicBezTo>
                      <a:pt x="2540" y="1504812"/>
                      <a:pt x="1270" y="1579290"/>
                      <a:pt x="0" y="1653768"/>
                    </a:cubicBezTo>
                    <a:cubicBezTo>
                      <a:pt x="0" y="1670364"/>
                      <a:pt x="3810" y="1680524"/>
                      <a:pt x="15240" y="1685604"/>
                    </a:cubicBezTo>
                    <a:cubicBezTo>
                      <a:pt x="22860" y="1689414"/>
                      <a:pt x="31750" y="1691954"/>
                      <a:pt x="40640" y="1693224"/>
                    </a:cubicBezTo>
                    <a:cubicBezTo>
                      <a:pt x="107328" y="1698304"/>
                      <a:pt x="184734" y="1702114"/>
                      <a:pt x="262141" y="1707194"/>
                    </a:cubicBezTo>
                    <a:cubicBezTo>
                      <a:pt x="304918" y="1709734"/>
                      <a:pt x="347696" y="1714814"/>
                      <a:pt x="390473" y="1716084"/>
                    </a:cubicBezTo>
                    <a:cubicBezTo>
                      <a:pt x="461769" y="1718624"/>
                      <a:pt x="1256207" y="1719894"/>
                      <a:pt x="1327503" y="1721164"/>
                    </a:cubicBezTo>
                    <a:cubicBezTo>
                      <a:pt x="1337688" y="1721164"/>
                      <a:pt x="1347873" y="1721164"/>
                      <a:pt x="1358058" y="1721164"/>
                    </a:cubicBezTo>
                    <a:cubicBezTo>
                      <a:pt x="1406946" y="1721164"/>
                      <a:pt x="1457872" y="1719894"/>
                      <a:pt x="1506760" y="1719894"/>
                    </a:cubicBezTo>
                    <a:cubicBezTo>
                      <a:pt x="1563797" y="1719894"/>
                      <a:pt x="1618796" y="1721164"/>
                      <a:pt x="1675833" y="1721164"/>
                    </a:cubicBezTo>
                    <a:cubicBezTo>
                      <a:pt x="1759351" y="1721164"/>
                      <a:pt x="1844906" y="1721164"/>
                      <a:pt x="1928423" y="1721164"/>
                    </a:cubicBezTo>
                    <a:cubicBezTo>
                      <a:pt x="2005830" y="1721164"/>
                      <a:pt x="2083237" y="1722434"/>
                      <a:pt x="2160644" y="1723704"/>
                    </a:cubicBezTo>
                    <a:cubicBezTo>
                      <a:pt x="2195273" y="1723704"/>
                      <a:pt x="2231940" y="1724974"/>
                      <a:pt x="2266569" y="1724974"/>
                    </a:cubicBezTo>
                    <a:cubicBezTo>
                      <a:pt x="2378605" y="1723704"/>
                      <a:pt x="2488604" y="1717354"/>
                      <a:pt x="2596991" y="1717354"/>
                    </a:cubicBezTo>
                    <a:cubicBezTo>
                      <a:pt x="2600801" y="1717354"/>
                      <a:pt x="2605881" y="1714814"/>
                      <a:pt x="2609691" y="1712274"/>
                    </a:cubicBezTo>
                    <a:cubicBezTo>
                      <a:pt x="2614771" y="1708464"/>
                      <a:pt x="2617311" y="1702114"/>
                      <a:pt x="2619851" y="1699574"/>
                    </a:cubicBezTo>
                    <a:cubicBezTo>
                      <a:pt x="2621121" y="1644779"/>
                      <a:pt x="2622391" y="1590847"/>
                      <a:pt x="2623661" y="1536914"/>
                    </a:cubicBezTo>
                    <a:cubicBezTo>
                      <a:pt x="2624931" y="1453448"/>
                      <a:pt x="2635091" y="652169"/>
                      <a:pt x="2636361" y="568703"/>
                    </a:cubicBezTo>
                    <a:cubicBezTo>
                      <a:pt x="2636361" y="518623"/>
                      <a:pt x="2637631" y="468543"/>
                      <a:pt x="2638901" y="418463"/>
                    </a:cubicBezTo>
                    <a:cubicBezTo>
                      <a:pt x="2640171" y="364531"/>
                      <a:pt x="2641441" y="310599"/>
                      <a:pt x="2643981" y="256666"/>
                    </a:cubicBezTo>
                    <a:cubicBezTo>
                      <a:pt x="2645251" y="224564"/>
                      <a:pt x="2645251" y="191177"/>
                      <a:pt x="2650331" y="159075"/>
                    </a:cubicBezTo>
                    <a:cubicBezTo>
                      <a:pt x="2655411" y="120552"/>
                      <a:pt x="2657951" y="83313"/>
                      <a:pt x="2656681" y="43744"/>
                    </a:cubicBezTo>
                    <a:cubicBezTo>
                      <a:pt x="2656681" y="37394"/>
                      <a:pt x="2652871" y="29774"/>
                      <a:pt x="2646521" y="27234"/>
                    </a:cubicBezTo>
                    <a:close/>
                  </a:path>
                </a:pathLst>
              </a:custGeom>
              <a:solidFill>
                <a:srgbClr val="FBB117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431771" y="568647"/>
              <a:ext cx="12083123" cy="8306157"/>
              <a:chOff x="0" y="0"/>
              <a:chExt cx="2575454" cy="177041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16510" y="11430"/>
                <a:ext cx="2544974" cy="1746284"/>
              </a:xfrm>
              <a:custGeom>
                <a:avLst/>
                <a:gdLst/>
                <a:ahLst/>
                <a:cxnLst/>
                <a:rect r="r" b="b" t="t" l="l"/>
                <a:pathLst>
                  <a:path h="1746284" w="2544974">
                    <a:moveTo>
                      <a:pt x="1270" y="0"/>
                    </a:moveTo>
                    <a:lnTo>
                      <a:pt x="2544974" y="15240"/>
                    </a:lnTo>
                    <a:lnTo>
                      <a:pt x="2513224" y="1746284"/>
                    </a:lnTo>
                    <a:lnTo>
                      <a:pt x="918461" y="1746284"/>
                    </a:lnTo>
                    <a:lnTo>
                      <a:pt x="0" y="1719614"/>
                    </a:lnTo>
                    <a:lnTo>
                      <a:pt x="11430" y="567580"/>
                    </a:lnTo>
                    <a:close/>
                  </a:path>
                </a:pathLst>
              </a:custGeom>
              <a:solidFill>
                <a:srgbClr val="C86C4A"/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1080" y="0"/>
                <a:ext cx="2572084" cy="1770414"/>
              </a:xfrm>
              <a:custGeom>
                <a:avLst/>
                <a:gdLst/>
                <a:ahLst/>
                <a:cxnLst/>
                <a:rect r="r" b="b" t="t" l="l"/>
                <a:pathLst>
                  <a:path h="1770414" w="2572084">
                    <a:moveTo>
                      <a:pt x="2538814" y="1745014"/>
                    </a:moveTo>
                    <a:cubicBezTo>
                      <a:pt x="2536274" y="1748824"/>
                      <a:pt x="2532464" y="1753904"/>
                      <a:pt x="2528654" y="1757714"/>
                    </a:cubicBezTo>
                    <a:cubicBezTo>
                      <a:pt x="2524844" y="1760254"/>
                      <a:pt x="2519764" y="1762794"/>
                      <a:pt x="2515954" y="1762794"/>
                    </a:cubicBezTo>
                    <a:cubicBezTo>
                      <a:pt x="2423460" y="1761524"/>
                      <a:pt x="2316638" y="1767874"/>
                      <a:pt x="2207838" y="1770414"/>
                    </a:cubicBezTo>
                    <a:cubicBezTo>
                      <a:pt x="2174209" y="1770414"/>
                      <a:pt x="2138602" y="1769144"/>
                      <a:pt x="2104973" y="1769144"/>
                    </a:cubicBezTo>
                    <a:cubicBezTo>
                      <a:pt x="2029802" y="1767874"/>
                      <a:pt x="1954631" y="1766604"/>
                      <a:pt x="1879460" y="1766604"/>
                    </a:cubicBezTo>
                    <a:lnTo>
                      <a:pt x="1634166" y="1766604"/>
                    </a:lnTo>
                    <a:cubicBezTo>
                      <a:pt x="1578777" y="1766604"/>
                      <a:pt x="1525366" y="1765334"/>
                      <a:pt x="1469977" y="1765334"/>
                    </a:cubicBezTo>
                    <a:cubicBezTo>
                      <a:pt x="1422501" y="1765334"/>
                      <a:pt x="1373046" y="1765334"/>
                      <a:pt x="1325570" y="1766604"/>
                    </a:cubicBezTo>
                    <a:lnTo>
                      <a:pt x="1295897" y="1766604"/>
                    </a:lnTo>
                    <a:cubicBezTo>
                      <a:pt x="1226661" y="1765334"/>
                      <a:pt x="455171" y="1764064"/>
                      <a:pt x="385935" y="1761524"/>
                    </a:cubicBezTo>
                    <a:cubicBezTo>
                      <a:pt x="344393" y="1760254"/>
                      <a:pt x="302851" y="1755174"/>
                      <a:pt x="261309" y="1752634"/>
                    </a:cubicBezTo>
                    <a:cubicBezTo>
                      <a:pt x="186139" y="1747554"/>
                      <a:pt x="110968" y="1743744"/>
                      <a:pt x="40830" y="1738664"/>
                    </a:cubicBezTo>
                    <a:cubicBezTo>
                      <a:pt x="31940" y="1737394"/>
                      <a:pt x="23050" y="1734854"/>
                      <a:pt x="15430" y="1731044"/>
                    </a:cubicBezTo>
                    <a:cubicBezTo>
                      <a:pt x="4000" y="1725964"/>
                      <a:pt x="-1080" y="1714534"/>
                      <a:pt x="190" y="1699080"/>
                    </a:cubicBezTo>
                    <a:cubicBezTo>
                      <a:pt x="1460" y="1622562"/>
                      <a:pt x="2730" y="1544725"/>
                      <a:pt x="2730" y="1468206"/>
                    </a:cubicBezTo>
                    <a:cubicBezTo>
                      <a:pt x="4000" y="1390369"/>
                      <a:pt x="16700" y="573733"/>
                      <a:pt x="16700" y="495896"/>
                    </a:cubicBezTo>
                    <a:cubicBezTo>
                      <a:pt x="17970" y="420696"/>
                      <a:pt x="19240" y="345497"/>
                      <a:pt x="17970" y="268979"/>
                    </a:cubicBezTo>
                    <a:cubicBezTo>
                      <a:pt x="16700" y="193780"/>
                      <a:pt x="15430" y="119900"/>
                      <a:pt x="5270" y="46990"/>
                    </a:cubicBezTo>
                    <a:cubicBezTo>
                      <a:pt x="4000" y="34290"/>
                      <a:pt x="1460" y="21590"/>
                      <a:pt x="190" y="8890"/>
                    </a:cubicBezTo>
                    <a:cubicBezTo>
                      <a:pt x="2730" y="7620"/>
                      <a:pt x="4000" y="6350"/>
                      <a:pt x="5270" y="6350"/>
                    </a:cubicBezTo>
                    <a:cubicBezTo>
                      <a:pt x="33210" y="5080"/>
                      <a:pt x="69426" y="3810"/>
                      <a:pt x="112946" y="2540"/>
                    </a:cubicBezTo>
                    <a:cubicBezTo>
                      <a:pt x="174270" y="0"/>
                      <a:pt x="237571" y="0"/>
                      <a:pt x="298895" y="0"/>
                    </a:cubicBezTo>
                    <a:cubicBezTo>
                      <a:pt x="376044" y="1270"/>
                      <a:pt x="1155447" y="3810"/>
                      <a:pt x="1232596" y="5080"/>
                    </a:cubicBezTo>
                    <a:cubicBezTo>
                      <a:pt x="1307766" y="6350"/>
                      <a:pt x="1382937" y="6350"/>
                      <a:pt x="1458108" y="6350"/>
                    </a:cubicBezTo>
                    <a:cubicBezTo>
                      <a:pt x="1499650" y="6350"/>
                      <a:pt x="1541192" y="6350"/>
                      <a:pt x="1582733" y="7620"/>
                    </a:cubicBezTo>
                    <a:cubicBezTo>
                      <a:pt x="1663839" y="10160"/>
                      <a:pt x="1746922" y="8890"/>
                      <a:pt x="1828028" y="1270"/>
                    </a:cubicBezTo>
                    <a:cubicBezTo>
                      <a:pt x="1861657" y="-1270"/>
                      <a:pt x="1895286" y="1270"/>
                      <a:pt x="1928915" y="1270"/>
                    </a:cubicBezTo>
                    <a:cubicBezTo>
                      <a:pt x="2004086" y="1270"/>
                      <a:pt x="2079256" y="0"/>
                      <a:pt x="2154427" y="2540"/>
                    </a:cubicBezTo>
                    <a:cubicBezTo>
                      <a:pt x="2249380" y="5080"/>
                      <a:pt x="2342354" y="12700"/>
                      <a:pt x="2437307" y="16510"/>
                    </a:cubicBezTo>
                    <a:cubicBezTo>
                      <a:pt x="2478849" y="19050"/>
                      <a:pt x="2507064" y="17780"/>
                      <a:pt x="2533734" y="20320"/>
                    </a:cubicBezTo>
                    <a:cubicBezTo>
                      <a:pt x="2542624" y="21590"/>
                      <a:pt x="2551514" y="24130"/>
                      <a:pt x="2560404" y="26670"/>
                    </a:cubicBezTo>
                    <a:cubicBezTo>
                      <a:pt x="2568024" y="29210"/>
                      <a:pt x="2571834" y="35560"/>
                      <a:pt x="2571834" y="45720"/>
                    </a:cubicBezTo>
                    <a:cubicBezTo>
                      <a:pt x="2573104" y="84279"/>
                      <a:pt x="2569294" y="123858"/>
                      <a:pt x="2565484" y="163436"/>
                    </a:cubicBezTo>
                    <a:cubicBezTo>
                      <a:pt x="2561674" y="196418"/>
                      <a:pt x="2560404" y="230720"/>
                      <a:pt x="2559134" y="263702"/>
                    </a:cubicBezTo>
                    <a:cubicBezTo>
                      <a:pt x="2556594" y="319112"/>
                      <a:pt x="2555324" y="374521"/>
                      <a:pt x="2554054" y="429931"/>
                    </a:cubicBezTo>
                    <a:cubicBezTo>
                      <a:pt x="2552784" y="481383"/>
                      <a:pt x="2551514" y="532835"/>
                      <a:pt x="2551514" y="584287"/>
                    </a:cubicBezTo>
                    <a:cubicBezTo>
                      <a:pt x="2551514" y="670041"/>
                      <a:pt x="2540084" y="1493273"/>
                      <a:pt x="2538814" y="1579026"/>
                    </a:cubicBezTo>
                    <a:cubicBezTo>
                      <a:pt x="2541354" y="1634436"/>
                      <a:pt x="2540084" y="1689845"/>
                      <a:pt x="2538814" y="1745014"/>
                    </a:cubicBezTo>
                    <a:close/>
                    <a:moveTo>
                      <a:pt x="16700" y="1714534"/>
                    </a:moveTo>
                    <a:cubicBezTo>
                      <a:pt x="21780" y="1715804"/>
                      <a:pt x="28130" y="1718344"/>
                      <a:pt x="35750" y="1718344"/>
                    </a:cubicBezTo>
                    <a:cubicBezTo>
                      <a:pt x="108990" y="1723424"/>
                      <a:pt x="190095" y="1728504"/>
                      <a:pt x="269222" y="1732314"/>
                    </a:cubicBezTo>
                    <a:cubicBezTo>
                      <a:pt x="306808" y="1734854"/>
                      <a:pt x="344393" y="1738664"/>
                      <a:pt x="383957" y="1739934"/>
                    </a:cubicBezTo>
                    <a:cubicBezTo>
                      <a:pt x="409673" y="1741204"/>
                      <a:pt x="1137643" y="1737394"/>
                      <a:pt x="1161381" y="1738664"/>
                    </a:cubicBezTo>
                    <a:cubicBezTo>
                      <a:pt x="1202923" y="1739934"/>
                      <a:pt x="1244465" y="1742474"/>
                      <a:pt x="1286006" y="1743744"/>
                    </a:cubicBezTo>
                    <a:cubicBezTo>
                      <a:pt x="1305788" y="1745014"/>
                      <a:pt x="1323592" y="1745014"/>
                      <a:pt x="1343374" y="1745014"/>
                    </a:cubicBezTo>
                    <a:cubicBezTo>
                      <a:pt x="1432392" y="1745014"/>
                      <a:pt x="1519432" y="1743744"/>
                      <a:pt x="1608450" y="1745014"/>
                    </a:cubicBezTo>
                    <a:cubicBezTo>
                      <a:pt x="1642079" y="1745014"/>
                      <a:pt x="1677686" y="1747554"/>
                      <a:pt x="1711315" y="1747554"/>
                    </a:cubicBezTo>
                    <a:cubicBezTo>
                      <a:pt x="1762748" y="1747554"/>
                      <a:pt x="1812202" y="1743744"/>
                      <a:pt x="1863635" y="1743744"/>
                    </a:cubicBezTo>
                    <a:cubicBezTo>
                      <a:pt x="1924958" y="1743744"/>
                      <a:pt x="1984304" y="1745014"/>
                      <a:pt x="2045627" y="1745014"/>
                    </a:cubicBezTo>
                    <a:cubicBezTo>
                      <a:pt x="2126733" y="1745014"/>
                      <a:pt x="2209816" y="1745014"/>
                      <a:pt x="2290922" y="1743744"/>
                    </a:cubicBezTo>
                    <a:cubicBezTo>
                      <a:pt x="2364114" y="1742474"/>
                      <a:pt x="2435329" y="1739934"/>
                      <a:pt x="2500714" y="1737394"/>
                    </a:cubicBezTo>
                    <a:cubicBezTo>
                      <a:pt x="2505794" y="1737394"/>
                      <a:pt x="2510874" y="1734854"/>
                      <a:pt x="2517224" y="1733584"/>
                    </a:cubicBezTo>
                    <a:cubicBezTo>
                      <a:pt x="2517224" y="1720884"/>
                      <a:pt x="2518494" y="1708184"/>
                      <a:pt x="2518494" y="1695123"/>
                    </a:cubicBezTo>
                    <a:lnTo>
                      <a:pt x="2518494" y="1654225"/>
                    </a:lnTo>
                    <a:cubicBezTo>
                      <a:pt x="2519764" y="1586942"/>
                      <a:pt x="2522304" y="1518339"/>
                      <a:pt x="2521034" y="1451055"/>
                    </a:cubicBezTo>
                    <a:cubicBezTo>
                      <a:pt x="2519764" y="1356067"/>
                      <a:pt x="2532464" y="524920"/>
                      <a:pt x="2536274" y="429931"/>
                    </a:cubicBezTo>
                    <a:cubicBezTo>
                      <a:pt x="2538814" y="374521"/>
                      <a:pt x="2541354" y="319112"/>
                      <a:pt x="2541354" y="263702"/>
                    </a:cubicBezTo>
                    <a:cubicBezTo>
                      <a:pt x="2541354" y="217527"/>
                      <a:pt x="2542624" y="172671"/>
                      <a:pt x="2550244" y="127816"/>
                    </a:cubicBezTo>
                    <a:cubicBezTo>
                      <a:pt x="2554054" y="101430"/>
                      <a:pt x="2556594" y="75044"/>
                      <a:pt x="2551514" y="48260"/>
                    </a:cubicBezTo>
                    <a:cubicBezTo>
                      <a:pt x="2543894" y="48260"/>
                      <a:pt x="2537544" y="46990"/>
                      <a:pt x="2529924" y="46990"/>
                    </a:cubicBezTo>
                    <a:cubicBezTo>
                      <a:pt x="2496904" y="44450"/>
                      <a:pt x="2451154" y="44450"/>
                      <a:pt x="2397743" y="39370"/>
                    </a:cubicBezTo>
                    <a:cubicBezTo>
                      <a:pt x="2298834" y="31750"/>
                      <a:pt x="2197947" y="26670"/>
                      <a:pt x="2099038" y="26670"/>
                    </a:cubicBezTo>
                    <a:cubicBezTo>
                      <a:pt x="2029802" y="26670"/>
                      <a:pt x="1958587" y="30480"/>
                      <a:pt x="1889351" y="22860"/>
                    </a:cubicBezTo>
                    <a:lnTo>
                      <a:pt x="1869569" y="22860"/>
                    </a:lnTo>
                    <a:cubicBezTo>
                      <a:pt x="1812202" y="26670"/>
                      <a:pt x="1750879" y="31750"/>
                      <a:pt x="1691533" y="33020"/>
                    </a:cubicBezTo>
                    <a:cubicBezTo>
                      <a:pt x="1626253" y="34290"/>
                      <a:pt x="1562952" y="30480"/>
                      <a:pt x="1497672" y="29210"/>
                    </a:cubicBezTo>
                    <a:cubicBezTo>
                      <a:pt x="1436348" y="27940"/>
                      <a:pt x="1375025" y="26670"/>
                      <a:pt x="1315679" y="26670"/>
                    </a:cubicBezTo>
                    <a:cubicBezTo>
                      <a:pt x="1293919" y="26670"/>
                      <a:pt x="1274137" y="27940"/>
                      <a:pt x="1252377" y="26670"/>
                    </a:cubicBezTo>
                    <a:cubicBezTo>
                      <a:pt x="1177207" y="25400"/>
                      <a:pt x="399782" y="22860"/>
                      <a:pt x="322633" y="22860"/>
                    </a:cubicBezTo>
                    <a:cubicBezTo>
                      <a:pt x="255375" y="21590"/>
                      <a:pt x="188117" y="22860"/>
                      <a:pt x="120859" y="22860"/>
                    </a:cubicBezTo>
                    <a:cubicBezTo>
                      <a:pt x="85251" y="22860"/>
                      <a:pt x="44640" y="22860"/>
                      <a:pt x="20510" y="24130"/>
                    </a:cubicBezTo>
                    <a:cubicBezTo>
                      <a:pt x="19240" y="24130"/>
                      <a:pt x="20510" y="35560"/>
                      <a:pt x="21780" y="40640"/>
                    </a:cubicBezTo>
                    <a:cubicBezTo>
                      <a:pt x="25590" y="80322"/>
                      <a:pt x="30670" y="122539"/>
                      <a:pt x="33210" y="163436"/>
                    </a:cubicBezTo>
                    <a:cubicBezTo>
                      <a:pt x="35750" y="237316"/>
                      <a:pt x="37020" y="311196"/>
                      <a:pt x="37020" y="385076"/>
                    </a:cubicBezTo>
                    <a:cubicBezTo>
                      <a:pt x="37020" y="432570"/>
                      <a:pt x="35750" y="478745"/>
                      <a:pt x="34480" y="526239"/>
                    </a:cubicBezTo>
                    <a:cubicBezTo>
                      <a:pt x="33210" y="572414"/>
                      <a:pt x="21780" y="1354748"/>
                      <a:pt x="20510" y="1399603"/>
                    </a:cubicBezTo>
                    <a:lnTo>
                      <a:pt x="20510" y="1486676"/>
                    </a:lnTo>
                    <a:cubicBezTo>
                      <a:pt x="20510" y="1552640"/>
                      <a:pt x="19240" y="1619923"/>
                      <a:pt x="19240" y="1685888"/>
                    </a:cubicBezTo>
                    <a:cubicBezTo>
                      <a:pt x="19240" y="1695123"/>
                      <a:pt x="17970" y="1703038"/>
                      <a:pt x="16700" y="1714534"/>
                    </a:cubicBezTo>
                    <a:close/>
                  </a:path>
                </a:pathLst>
              </a:custGeom>
              <a:solidFill>
                <a:srgbClr val="AB5333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1675375" y="2347545"/>
              <a:ext cx="11595915" cy="462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230628" indent="-615314" lvl="1">
                <a:lnSpc>
                  <a:spcPts val="6839"/>
                </a:lnSpc>
                <a:buAutoNum type="arabicPeriod" startAt="1"/>
              </a:pPr>
              <a:r>
                <a:rPr lang="en-US" sz="5699">
                  <a:solidFill>
                    <a:srgbClr val="FFF8E3"/>
                  </a:solidFill>
                  <a:latin typeface="Monterchi"/>
                  <a:ea typeface="Monterchi"/>
                  <a:cs typeface="Monterchi"/>
                  <a:sym typeface="Monterchi"/>
                </a:rPr>
                <a:t>Rudiments of Numerical Calculus</a:t>
              </a:r>
            </a:p>
            <a:p>
              <a:pPr algn="l" marL="1230628" indent="-615314" lvl="1">
                <a:lnSpc>
                  <a:spcPts val="6839"/>
                </a:lnSpc>
                <a:buAutoNum type="arabicPeriod" startAt="1"/>
              </a:pPr>
              <a:r>
                <a:rPr lang="en-US" sz="5699">
                  <a:solidFill>
                    <a:srgbClr val="FFF8E3"/>
                  </a:solidFill>
                  <a:latin typeface="Monterchi"/>
                  <a:ea typeface="Monterchi"/>
                  <a:cs typeface="Monterchi"/>
                  <a:sym typeface="Monterchi"/>
                </a:rPr>
                <a:t>Undetermined Coefficients</a:t>
              </a:r>
            </a:p>
            <a:p>
              <a:pPr algn="l" marL="1230628" indent="-615314" lvl="1">
                <a:lnSpc>
                  <a:spcPts val="6839"/>
                </a:lnSpc>
                <a:buAutoNum type="arabicPeriod" startAt="1"/>
              </a:pPr>
              <a:r>
                <a:rPr lang="en-US" sz="5699">
                  <a:solidFill>
                    <a:srgbClr val="FFF8E3"/>
                  </a:solidFill>
                  <a:latin typeface="Monterchi"/>
                  <a:ea typeface="Monterchi"/>
                  <a:cs typeface="Monterchi"/>
                  <a:sym typeface="Monterchi"/>
                </a:rPr>
                <a:t>Composite Integration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170079">
            <a:off x="-1415164" y="4175841"/>
            <a:ext cx="4904726" cy="6407600"/>
          </a:xfrm>
          <a:custGeom>
            <a:avLst/>
            <a:gdLst/>
            <a:ahLst/>
            <a:cxnLst/>
            <a:rect r="r" b="b" t="t" l="l"/>
            <a:pathLst>
              <a:path h="6407600" w="4904726">
                <a:moveTo>
                  <a:pt x="0" y="0"/>
                </a:moveTo>
                <a:lnTo>
                  <a:pt x="4904726" y="0"/>
                </a:lnTo>
                <a:lnTo>
                  <a:pt x="4904726" y="6407600"/>
                </a:lnTo>
                <a:lnTo>
                  <a:pt x="0" y="6407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90884" y="7200900"/>
            <a:ext cx="3194581" cy="4114800"/>
          </a:xfrm>
          <a:custGeom>
            <a:avLst/>
            <a:gdLst/>
            <a:ahLst/>
            <a:cxnLst/>
            <a:rect r="r" b="b" t="t" l="l"/>
            <a:pathLst>
              <a:path h="4114800" w="3194581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786813" y="6586000"/>
            <a:ext cx="3852949" cy="4114800"/>
          </a:xfrm>
          <a:custGeom>
            <a:avLst/>
            <a:gdLst/>
            <a:ahLst/>
            <a:cxnLst/>
            <a:rect r="r" b="b" t="t" l="l"/>
            <a:pathLst>
              <a:path h="4114800" w="3852949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0039" y="-893935"/>
            <a:ext cx="3920282" cy="4114800"/>
          </a:xfrm>
          <a:custGeom>
            <a:avLst/>
            <a:gdLst/>
            <a:ahLst/>
            <a:cxnLst/>
            <a:rect r="r" b="b" t="t" l="l"/>
            <a:pathLst>
              <a:path h="4114800" w="3920282">
                <a:moveTo>
                  <a:pt x="0" y="0"/>
                </a:moveTo>
                <a:lnTo>
                  <a:pt x="3920282" y="0"/>
                </a:lnTo>
                <a:lnTo>
                  <a:pt x="39202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384460"/>
            <a:ext cx="1623060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  <a:spcBef>
                <a:spcPct val="0"/>
              </a:spcBef>
            </a:pPr>
            <a:r>
              <a:rPr lang="en-US" sz="7500">
                <a:solidFill>
                  <a:srgbClr val="FFF8E3"/>
                </a:solidFill>
                <a:latin typeface="Bugaki"/>
                <a:ea typeface="Bugaki"/>
                <a:cs typeface="Bugaki"/>
                <a:sym typeface="Bugaki"/>
              </a:rPr>
              <a:t>Lesson Outline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444093" y="-457200"/>
            <a:ext cx="3920282" cy="4114800"/>
          </a:xfrm>
          <a:custGeom>
            <a:avLst/>
            <a:gdLst/>
            <a:ahLst/>
            <a:cxnLst/>
            <a:rect r="r" b="b" t="t" l="l"/>
            <a:pathLst>
              <a:path h="4114800" w="3920282">
                <a:moveTo>
                  <a:pt x="0" y="0"/>
                </a:moveTo>
                <a:lnTo>
                  <a:pt x="3920282" y="0"/>
                </a:lnTo>
                <a:lnTo>
                  <a:pt x="39202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577059" y="8157224"/>
            <a:ext cx="2176096" cy="2057400"/>
          </a:xfrm>
          <a:custGeom>
            <a:avLst/>
            <a:gdLst/>
            <a:ahLst/>
            <a:cxnLst/>
            <a:rect r="r" b="b" t="t" l="l"/>
            <a:pathLst>
              <a:path h="2057400" w="2176096">
                <a:moveTo>
                  <a:pt x="0" y="0"/>
                </a:moveTo>
                <a:lnTo>
                  <a:pt x="2176096" y="0"/>
                </a:lnTo>
                <a:lnTo>
                  <a:pt x="217609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6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305573" y="-2416946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9"/>
                </a:lnTo>
                <a:lnTo>
                  <a:pt x="0" y="23102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-5580006" y="769974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4477803"/>
            <a:ext cx="6527612" cy="4324543"/>
          </a:xfrm>
          <a:custGeom>
            <a:avLst/>
            <a:gdLst/>
            <a:ahLst/>
            <a:cxnLst/>
            <a:rect r="r" b="b" t="t" l="l"/>
            <a:pathLst>
              <a:path h="4324543" w="6527612">
                <a:moveTo>
                  <a:pt x="6527612" y="0"/>
                </a:moveTo>
                <a:lnTo>
                  <a:pt x="0" y="0"/>
                </a:lnTo>
                <a:lnTo>
                  <a:pt x="0" y="4324543"/>
                </a:lnTo>
                <a:lnTo>
                  <a:pt x="6527612" y="4324543"/>
                </a:lnTo>
                <a:lnTo>
                  <a:pt x="6527612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02804" y="702976"/>
            <a:ext cx="12956496" cy="253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>
                <a:solidFill>
                  <a:srgbClr val="3A0D07"/>
                </a:solidFill>
                <a:latin typeface="Lilita One"/>
                <a:ea typeface="Lilita One"/>
                <a:cs typeface="Lilita One"/>
                <a:sym typeface="Lilita One"/>
              </a:rPr>
              <a:t>RUDIMENTS OF NUMERICAL C</a:t>
            </a:r>
            <a:r>
              <a:rPr lang="en-US" sz="9999">
                <a:solidFill>
                  <a:srgbClr val="3A0D07"/>
                </a:solidFill>
                <a:latin typeface="Lilita One"/>
                <a:ea typeface="Lilita One"/>
                <a:cs typeface="Lilita One"/>
                <a:sym typeface="Lilita One"/>
              </a:rPr>
              <a:t>ALCULUS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60131" y="3355640"/>
            <a:ext cx="1106056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Numerical</a:t>
            </a: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 calculus studies how to compute </a:t>
            </a: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derivatives</a:t>
            </a: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 and </a:t>
            </a: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integrals</a:t>
            </a: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 using </a:t>
            </a: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approximation</a:t>
            </a: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, especially when a function is known only at </a:t>
            </a: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discrete points</a:t>
            </a: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69799" y="5419881"/>
            <a:ext cx="8550896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Many</a:t>
            </a: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 real-world functions come from measurements, not formulas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Computers </a:t>
            </a: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cannot</a:t>
            </a: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 evaluate limits directly. </a:t>
            </a: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Numerical methods are needed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-216924">
            <a:off x="-1403354" y="7235340"/>
            <a:ext cx="5515974" cy="5879430"/>
          </a:xfrm>
          <a:custGeom>
            <a:avLst/>
            <a:gdLst/>
            <a:ahLst/>
            <a:cxnLst/>
            <a:rect r="r" b="b" t="t" l="l"/>
            <a:pathLst>
              <a:path h="5879430" w="5515974">
                <a:moveTo>
                  <a:pt x="5515974" y="0"/>
                </a:moveTo>
                <a:lnTo>
                  <a:pt x="0" y="0"/>
                </a:lnTo>
                <a:lnTo>
                  <a:pt x="0" y="5879429"/>
                </a:lnTo>
                <a:lnTo>
                  <a:pt x="5515974" y="5879429"/>
                </a:lnTo>
                <a:lnTo>
                  <a:pt x="551597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624773">
            <a:off x="1058653" y="1241656"/>
            <a:ext cx="3032055" cy="1253089"/>
          </a:xfrm>
          <a:custGeom>
            <a:avLst/>
            <a:gdLst/>
            <a:ahLst/>
            <a:cxnLst/>
            <a:rect r="r" b="b" t="t" l="l"/>
            <a:pathLst>
              <a:path h="1253089" w="3032055">
                <a:moveTo>
                  <a:pt x="0" y="0"/>
                </a:moveTo>
                <a:lnTo>
                  <a:pt x="3032055" y="0"/>
                </a:lnTo>
                <a:lnTo>
                  <a:pt x="3032055" y="1253090"/>
                </a:lnTo>
                <a:lnTo>
                  <a:pt x="0" y="1253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500847">
            <a:off x="14990263" y="8723467"/>
            <a:ext cx="3160935" cy="821843"/>
          </a:xfrm>
          <a:custGeom>
            <a:avLst/>
            <a:gdLst/>
            <a:ahLst/>
            <a:cxnLst/>
            <a:rect r="r" b="b" t="t" l="l"/>
            <a:pathLst>
              <a:path h="821843" w="3160935">
                <a:moveTo>
                  <a:pt x="3160935" y="0"/>
                </a:moveTo>
                <a:lnTo>
                  <a:pt x="0" y="0"/>
                </a:lnTo>
                <a:lnTo>
                  <a:pt x="0" y="821843"/>
                </a:lnTo>
                <a:lnTo>
                  <a:pt x="3160935" y="821843"/>
                </a:lnTo>
                <a:lnTo>
                  <a:pt x="3160935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628310">
            <a:off x="9144000" y="8310988"/>
            <a:ext cx="453890" cy="4538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3A0D0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628310">
            <a:off x="15426375" y="938284"/>
            <a:ext cx="453890" cy="45389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3A0D0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6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4199436" y="-8625952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-5580006" y="5584616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10915" y="-2390823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4"/>
                </a:lnTo>
                <a:lnTo>
                  <a:pt x="0" y="5796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21425" y="8370098"/>
            <a:ext cx="3046966" cy="1927206"/>
          </a:xfrm>
          <a:custGeom>
            <a:avLst/>
            <a:gdLst/>
            <a:ahLst/>
            <a:cxnLst/>
            <a:rect r="r" b="b" t="t" l="l"/>
            <a:pathLst>
              <a:path h="1927206" w="3046966">
                <a:moveTo>
                  <a:pt x="3046965" y="0"/>
                </a:moveTo>
                <a:lnTo>
                  <a:pt x="0" y="0"/>
                </a:lnTo>
                <a:lnTo>
                  <a:pt x="0" y="1927206"/>
                </a:lnTo>
                <a:lnTo>
                  <a:pt x="3046965" y="1927206"/>
                </a:lnTo>
                <a:lnTo>
                  <a:pt x="3046965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1425" y="215993"/>
            <a:ext cx="15118598" cy="253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THE FUNDAMENTAL CONCEPT</a:t>
            </a:r>
          </a:p>
        </p:txBody>
      </p:sp>
      <p:grpSp>
        <p:nvGrpSpPr>
          <p:cNvPr name="Group 7" id="7"/>
          <p:cNvGrpSpPr/>
          <p:nvPr/>
        </p:nvGrpSpPr>
        <p:grpSpPr>
          <a:xfrm rot="-628310">
            <a:off x="7389366" y="280384"/>
            <a:ext cx="453890" cy="45389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1D206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844907" y="3479778"/>
            <a:ext cx="6392365" cy="1616047"/>
          </a:xfrm>
          <a:custGeom>
            <a:avLst/>
            <a:gdLst/>
            <a:ahLst/>
            <a:cxnLst/>
            <a:rect r="r" b="b" t="t" l="l"/>
            <a:pathLst>
              <a:path h="1616047" w="6392365">
                <a:moveTo>
                  <a:pt x="0" y="0"/>
                </a:moveTo>
                <a:lnTo>
                  <a:pt x="6392365" y="0"/>
                </a:lnTo>
                <a:lnTo>
                  <a:pt x="6392365" y="1616048"/>
                </a:lnTo>
                <a:lnTo>
                  <a:pt x="0" y="16160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067477" y="3960896"/>
            <a:ext cx="1990247" cy="1693519"/>
          </a:xfrm>
          <a:custGeom>
            <a:avLst/>
            <a:gdLst/>
            <a:ahLst/>
            <a:cxnLst/>
            <a:rect r="r" b="b" t="t" l="l"/>
            <a:pathLst>
              <a:path h="1693519" w="1990247">
                <a:moveTo>
                  <a:pt x="0" y="0"/>
                </a:moveTo>
                <a:lnTo>
                  <a:pt x="1990247" y="0"/>
                </a:lnTo>
                <a:lnTo>
                  <a:pt x="1990247" y="1693519"/>
                </a:lnTo>
                <a:lnTo>
                  <a:pt x="0" y="16935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880724" y="6721215"/>
            <a:ext cx="8682239" cy="2295911"/>
          </a:xfrm>
          <a:custGeom>
            <a:avLst/>
            <a:gdLst/>
            <a:ahLst/>
            <a:cxnLst/>
            <a:rect r="r" b="b" t="t" l="l"/>
            <a:pathLst>
              <a:path h="2295911" w="8682239">
                <a:moveTo>
                  <a:pt x="0" y="0"/>
                </a:moveTo>
                <a:lnTo>
                  <a:pt x="8682239" y="0"/>
                </a:lnTo>
                <a:lnTo>
                  <a:pt x="8682239" y="2295912"/>
                </a:lnTo>
                <a:lnTo>
                  <a:pt x="0" y="22959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678040" y="9182100"/>
            <a:ext cx="1512222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This is the forward difference, the simplest numerical derivative.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6801" y="2465007"/>
            <a:ext cx="5883179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15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Replace Limits with 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44907" y="3174978"/>
            <a:ext cx="588317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Derivative definition: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89513" y="5883015"/>
            <a:ext cx="588317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Use a small but nonzero h: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47924" y="3449602"/>
            <a:ext cx="588317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Computers cannot compute limits, because limits involve infinite processes.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6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407834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9164123" y="-5136226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9371">
            <a:off x="10318711" y="-2396091"/>
            <a:ext cx="8412151" cy="5930566"/>
          </a:xfrm>
          <a:custGeom>
            <a:avLst/>
            <a:gdLst/>
            <a:ahLst/>
            <a:cxnLst/>
            <a:rect r="r" b="b" t="t" l="l"/>
            <a:pathLst>
              <a:path h="5930566" w="8412151">
                <a:moveTo>
                  <a:pt x="0" y="0"/>
                </a:moveTo>
                <a:lnTo>
                  <a:pt x="8412150" y="0"/>
                </a:lnTo>
                <a:lnTo>
                  <a:pt x="8412150" y="5930566"/>
                </a:lnTo>
                <a:lnTo>
                  <a:pt x="0" y="59305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41017" y="-3370442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4"/>
                </a:lnTo>
                <a:lnTo>
                  <a:pt x="0" y="57963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21030">
            <a:off x="-886877" y="7248402"/>
            <a:ext cx="6626862" cy="4961863"/>
          </a:xfrm>
          <a:custGeom>
            <a:avLst/>
            <a:gdLst/>
            <a:ahLst/>
            <a:cxnLst/>
            <a:rect r="r" b="b" t="t" l="l"/>
            <a:pathLst>
              <a:path h="4961863" w="6626862">
                <a:moveTo>
                  <a:pt x="0" y="0"/>
                </a:moveTo>
                <a:lnTo>
                  <a:pt x="6626862" y="0"/>
                </a:lnTo>
                <a:lnTo>
                  <a:pt x="6626862" y="4961862"/>
                </a:lnTo>
                <a:lnTo>
                  <a:pt x="0" y="49618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628310">
            <a:off x="9000101" y="8834871"/>
            <a:ext cx="453890" cy="45389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2008093">
            <a:off x="16955784" y="5795253"/>
            <a:ext cx="1212462" cy="798846"/>
          </a:xfrm>
          <a:custGeom>
            <a:avLst/>
            <a:gdLst/>
            <a:ahLst/>
            <a:cxnLst/>
            <a:rect r="r" b="b" t="t" l="l"/>
            <a:pathLst>
              <a:path h="798846" w="1212462">
                <a:moveTo>
                  <a:pt x="0" y="0"/>
                </a:moveTo>
                <a:lnTo>
                  <a:pt x="1212462" y="0"/>
                </a:lnTo>
                <a:lnTo>
                  <a:pt x="1212462" y="798847"/>
                </a:lnTo>
                <a:lnTo>
                  <a:pt x="0" y="7988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477209" y="392464"/>
            <a:ext cx="13079554" cy="253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PRACTICAL ISSUES IN NUMERICAL CALCULUS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006202" y="3397857"/>
            <a:ext cx="6425913" cy="2492341"/>
            <a:chOff x="0" y="0"/>
            <a:chExt cx="8567883" cy="332312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685460"/>
              <a:ext cx="8567883" cy="2637661"/>
              <a:chOff x="0" y="0"/>
              <a:chExt cx="1495061" cy="46026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95061" cy="460261"/>
              </a:xfrm>
              <a:custGeom>
                <a:avLst/>
                <a:gdLst/>
                <a:ahLst/>
                <a:cxnLst/>
                <a:rect r="r" b="b" t="t" l="l"/>
                <a:pathLst>
                  <a:path h="460261" w="1495061">
                    <a:moveTo>
                      <a:pt x="61445" y="0"/>
                    </a:moveTo>
                    <a:lnTo>
                      <a:pt x="1433617" y="0"/>
                    </a:lnTo>
                    <a:cubicBezTo>
                      <a:pt x="1467552" y="0"/>
                      <a:pt x="1495061" y="27510"/>
                      <a:pt x="1495061" y="61445"/>
                    </a:cubicBezTo>
                    <a:lnTo>
                      <a:pt x="1495061" y="398817"/>
                    </a:lnTo>
                    <a:cubicBezTo>
                      <a:pt x="1495061" y="432752"/>
                      <a:pt x="1467552" y="460261"/>
                      <a:pt x="1433617" y="460261"/>
                    </a:cubicBezTo>
                    <a:lnTo>
                      <a:pt x="61445" y="460261"/>
                    </a:lnTo>
                    <a:cubicBezTo>
                      <a:pt x="27510" y="460261"/>
                      <a:pt x="0" y="432752"/>
                      <a:pt x="0" y="398817"/>
                    </a:cubicBezTo>
                    <a:lnTo>
                      <a:pt x="0" y="61445"/>
                    </a:lnTo>
                    <a:cubicBezTo>
                      <a:pt x="0" y="27510"/>
                      <a:pt x="27510" y="0"/>
                      <a:pt x="61445" y="0"/>
                    </a:cubicBezTo>
                    <a:close/>
                  </a:path>
                </a:pathLst>
              </a:custGeom>
              <a:solidFill>
                <a:srgbClr val="7A4527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1495061" cy="507886"/>
              </a:xfrm>
              <a:prstGeom prst="rect">
                <a:avLst/>
              </a:prstGeom>
            </p:spPr>
            <p:txBody>
              <a:bodyPr anchor="ctr" rtlCol="false" tIns="65363" lIns="65363" bIns="65363" rIns="65363"/>
              <a:lstStyle/>
              <a:p>
                <a:pPr algn="ctr">
                  <a:lnSpc>
                    <a:spcPts val="3342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35011" y="0"/>
              <a:ext cx="7097862" cy="1370921"/>
              <a:chOff x="0" y="0"/>
              <a:chExt cx="1238548" cy="23922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38549" cy="239220"/>
              </a:xfrm>
              <a:custGeom>
                <a:avLst/>
                <a:gdLst/>
                <a:ahLst/>
                <a:cxnLst/>
                <a:rect r="r" b="b" t="t" l="l"/>
                <a:pathLst>
                  <a:path h="239220" w="1238549">
                    <a:moveTo>
                      <a:pt x="74170" y="0"/>
                    </a:moveTo>
                    <a:lnTo>
                      <a:pt x="1164378" y="0"/>
                    </a:lnTo>
                    <a:cubicBezTo>
                      <a:pt x="1205341" y="0"/>
                      <a:pt x="1238549" y="33207"/>
                      <a:pt x="1238549" y="74170"/>
                    </a:cubicBezTo>
                    <a:lnTo>
                      <a:pt x="1238549" y="165050"/>
                    </a:lnTo>
                    <a:cubicBezTo>
                      <a:pt x="1238549" y="206013"/>
                      <a:pt x="1205341" y="239220"/>
                      <a:pt x="1164378" y="239220"/>
                    </a:cubicBezTo>
                    <a:lnTo>
                      <a:pt x="74170" y="239220"/>
                    </a:lnTo>
                    <a:cubicBezTo>
                      <a:pt x="33207" y="239220"/>
                      <a:pt x="0" y="206013"/>
                      <a:pt x="0" y="165050"/>
                    </a:cubicBezTo>
                    <a:lnTo>
                      <a:pt x="0" y="74170"/>
                    </a:lnTo>
                    <a:cubicBezTo>
                      <a:pt x="0" y="33207"/>
                      <a:pt x="33207" y="0"/>
                      <a:pt x="7417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66675"/>
                <a:ext cx="1238548" cy="305895"/>
              </a:xfrm>
              <a:prstGeom prst="rect">
                <a:avLst/>
              </a:prstGeom>
            </p:spPr>
            <p:txBody>
              <a:bodyPr anchor="ctr" rtlCol="false" tIns="65363" lIns="65363" bIns="65363" rIns="65363"/>
              <a:lstStyle/>
              <a:p>
                <a:pPr algn="ctr">
                  <a:lnSpc>
                    <a:spcPts val="3762"/>
                  </a:lnSpc>
                </a:pPr>
                <a:r>
                  <a:rPr lang="en-US" sz="2687">
                    <a:solidFill>
                      <a:srgbClr val="1D2062"/>
                    </a:solidFill>
                    <a:latin typeface="Lilita One"/>
                    <a:ea typeface="Lilita One"/>
                    <a:cs typeface="Lilita One"/>
                    <a:sym typeface="Lilita One"/>
                  </a:rPr>
                  <a:t>1, EFFICIENCY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17309" y="1758811"/>
              <a:ext cx="7533266" cy="1265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24"/>
                </a:lnSpc>
                <a:spcBef>
                  <a:spcPct val="0"/>
                </a:spcBef>
              </a:pPr>
              <a:r>
                <a:rPr lang="en-US" b="true" sz="2731" spc="-106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methods must be fast enough for real computation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16986" y="6862193"/>
            <a:ext cx="6425913" cy="2207771"/>
            <a:chOff x="0" y="0"/>
            <a:chExt cx="8567883" cy="2943695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685460"/>
              <a:ext cx="8567883" cy="2258235"/>
              <a:chOff x="0" y="0"/>
              <a:chExt cx="1495061" cy="39405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95061" cy="394053"/>
              </a:xfrm>
              <a:custGeom>
                <a:avLst/>
                <a:gdLst/>
                <a:ahLst/>
                <a:cxnLst/>
                <a:rect r="r" b="b" t="t" l="l"/>
                <a:pathLst>
                  <a:path h="394053" w="1495061">
                    <a:moveTo>
                      <a:pt x="61445" y="0"/>
                    </a:moveTo>
                    <a:lnTo>
                      <a:pt x="1433617" y="0"/>
                    </a:lnTo>
                    <a:cubicBezTo>
                      <a:pt x="1467552" y="0"/>
                      <a:pt x="1495061" y="27510"/>
                      <a:pt x="1495061" y="61445"/>
                    </a:cubicBezTo>
                    <a:lnTo>
                      <a:pt x="1495061" y="332608"/>
                    </a:lnTo>
                    <a:cubicBezTo>
                      <a:pt x="1495061" y="366543"/>
                      <a:pt x="1467552" y="394053"/>
                      <a:pt x="1433617" y="394053"/>
                    </a:cubicBezTo>
                    <a:lnTo>
                      <a:pt x="61445" y="394053"/>
                    </a:lnTo>
                    <a:cubicBezTo>
                      <a:pt x="27510" y="394053"/>
                      <a:pt x="0" y="366543"/>
                      <a:pt x="0" y="332608"/>
                    </a:cubicBezTo>
                    <a:lnTo>
                      <a:pt x="0" y="61445"/>
                    </a:lnTo>
                    <a:cubicBezTo>
                      <a:pt x="0" y="27510"/>
                      <a:pt x="27510" y="0"/>
                      <a:pt x="61445" y="0"/>
                    </a:cubicBezTo>
                    <a:close/>
                  </a:path>
                </a:pathLst>
              </a:custGeom>
              <a:solidFill>
                <a:srgbClr val="7A452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1495061" cy="441678"/>
              </a:xfrm>
              <a:prstGeom prst="rect">
                <a:avLst/>
              </a:prstGeom>
            </p:spPr>
            <p:txBody>
              <a:bodyPr anchor="ctr" rtlCol="false" tIns="65363" lIns="65363" bIns="65363" rIns="65363"/>
              <a:lstStyle/>
              <a:p>
                <a:pPr algn="ctr">
                  <a:lnSpc>
                    <a:spcPts val="3342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735011" y="0"/>
              <a:ext cx="7097862" cy="1370921"/>
              <a:chOff x="0" y="0"/>
              <a:chExt cx="1238548" cy="23922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38549" cy="239220"/>
              </a:xfrm>
              <a:custGeom>
                <a:avLst/>
                <a:gdLst/>
                <a:ahLst/>
                <a:cxnLst/>
                <a:rect r="r" b="b" t="t" l="l"/>
                <a:pathLst>
                  <a:path h="239220" w="1238549">
                    <a:moveTo>
                      <a:pt x="74170" y="0"/>
                    </a:moveTo>
                    <a:lnTo>
                      <a:pt x="1164378" y="0"/>
                    </a:lnTo>
                    <a:cubicBezTo>
                      <a:pt x="1205341" y="0"/>
                      <a:pt x="1238549" y="33207"/>
                      <a:pt x="1238549" y="74170"/>
                    </a:cubicBezTo>
                    <a:lnTo>
                      <a:pt x="1238549" y="165050"/>
                    </a:lnTo>
                    <a:cubicBezTo>
                      <a:pt x="1238549" y="206013"/>
                      <a:pt x="1205341" y="239220"/>
                      <a:pt x="1164378" y="239220"/>
                    </a:cubicBezTo>
                    <a:lnTo>
                      <a:pt x="74170" y="239220"/>
                    </a:lnTo>
                    <a:cubicBezTo>
                      <a:pt x="33207" y="239220"/>
                      <a:pt x="0" y="206013"/>
                      <a:pt x="0" y="165050"/>
                    </a:cubicBezTo>
                    <a:lnTo>
                      <a:pt x="0" y="74170"/>
                    </a:lnTo>
                    <a:cubicBezTo>
                      <a:pt x="0" y="33207"/>
                      <a:pt x="33207" y="0"/>
                      <a:pt x="7417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66675"/>
                <a:ext cx="1238548" cy="305895"/>
              </a:xfrm>
              <a:prstGeom prst="rect">
                <a:avLst/>
              </a:prstGeom>
            </p:spPr>
            <p:txBody>
              <a:bodyPr anchor="ctr" rtlCol="false" tIns="65363" lIns="65363" bIns="65363" rIns="65363"/>
              <a:lstStyle/>
              <a:p>
                <a:pPr algn="ctr">
                  <a:lnSpc>
                    <a:spcPts val="3762"/>
                  </a:lnSpc>
                </a:pPr>
                <a:r>
                  <a:rPr lang="en-US" sz="2687">
                    <a:solidFill>
                      <a:srgbClr val="1D2062"/>
                    </a:solidFill>
                    <a:latin typeface="Lilita One"/>
                    <a:ea typeface="Lilita One"/>
                    <a:cs typeface="Lilita One"/>
                    <a:sym typeface="Lilita One"/>
                  </a:rPr>
                  <a:t>3. ACCURACY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517309" y="1398803"/>
              <a:ext cx="7533266" cy="1265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4"/>
                </a:lnSpc>
                <a:spcBef>
                  <a:spcPct val="0"/>
                </a:spcBef>
              </a:pPr>
              <a:r>
                <a:rPr lang="en-US" b="true" sz="2731" spc="-106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we must understand and control approximation errors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0" y="3397857"/>
            <a:ext cx="6425913" cy="2492341"/>
            <a:chOff x="0" y="0"/>
            <a:chExt cx="8567883" cy="332312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685460"/>
              <a:ext cx="8567883" cy="2637661"/>
              <a:chOff x="0" y="0"/>
              <a:chExt cx="1495061" cy="46026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495061" cy="460261"/>
              </a:xfrm>
              <a:custGeom>
                <a:avLst/>
                <a:gdLst/>
                <a:ahLst/>
                <a:cxnLst/>
                <a:rect r="r" b="b" t="t" l="l"/>
                <a:pathLst>
                  <a:path h="460261" w="1495061">
                    <a:moveTo>
                      <a:pt x="61445" y="0"/>
                    </a:moveTo>
                    <a:lnTo>
                      <a:pt x="1433617" y="0"/>
                    </a:lnTo>
                    <a:cubicBezTo>
                      <a:pt x="1467552" y="0"/>
                      <a:pt x="1495061" y="27510"/>
                      <a:pt x="1495061" y="61445"/>
                    </a:cubicBezTo>
                    <a:lnTo>
                      <a:pt x="1495061" y="398817"/>
                    </a:lnTo>
                    <a:cubicBezTo>
                      <a:pt x="1495061" y="432752"/>
                      <a:pt x="1467552" y="460261"/>
                      <a:pt x="1433617" y="460261"/>
                    </a:cubicBezTo>
                    <a:lnTo>
                      <a:pt x="61445" y="460261"/>
                    </a:lnTo>
                    <a:cubicBezTo>
                      <a:pt x="27510" y="460261"/>
                      <a:pt x="0" y="432752"/>
                      <a:pt x="0" y="398817"/>
                    </a:cubicBezTo>
                    <a:lnTo>
                      <a:pt x="0" y="61445"/>
                    </a:lnTo>
                    <a:cubicBezTo>
                      <a:pt x="0" y="27510"/>
                      <a:pt x="27510" y="0"/>
                      <a:pt x="61445" y="0"/>
                    </a:cubicBezTo>
                    <a:close/>
                  </a:path>
                </a:pathLst>
              </a:custGeom>
              <a:solidFill>
                <a:srgbClr val="7A4527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1495061" cy="507886"/>
              </a:xfrm>
              <a:prstGeom prst="rect">
                <a:avLst/>
              </a:prstGeom>
            </p:spPr>
            <p:txBody>
              <a:bodyPr anchor="ctr" rtlCol="false" tIns="65363" lIns="65363" bIns="65363" rIns="65363"/>
              <a:lstStyle/>
              <a:p>
                <a:pPr algn="ctr">
                  <a:lnSpc>
                    <a:spcPts val="3342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735011" y="0"/>
              <a:ext cx="7097862" cy="1370921"/>
              <a:chOff x="0" y="0"/>
              <a:chExt cx="1238548" cy="23922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238549" cy="239220"/>
              </a:xfrm>
              <a:custGeom>
                <a:avLst/>
                <a:gdLst/>
                <a:ahLst/>
                <a:cxnLst/>
                <a:rect r="r" b="b" t="t" l="l"/>
                <a:pathLst>
                  <a:path h="239220" w="1238549">
                    <a:moveTo>
                      <a:pt x="74170" y="0"/>
                    </a:moveTo>
                    <a:lnTo>
                      <a:pt x="1164378" y="0"/>
                    </a:lnTo>
                    <a:cubicBezTo>
                      <a:pt x="1205341" y="0"/>
                      <a:pt x="1238549" y="33207"/>
                      <a:pt x="1238549" y="74170"/>
                    </a:cubicBezTo>
                    <a:lnTo>
                      <a:pt x="1238549" y="165050"/>
                    </a:lnTo>
                    <a:cubicBezTo>
                      <a:pt x="1238549" y="206013"/>
                      <a:pt x="1205341" y="239220"/>
                      <a:pt x="1164378" y="239220"/>
                    </a:cubicBezTo>
                    <a:lnTo>
                      <a:pt x="74170" y="239220"/>
                    </a:lnTo>
                    <a:cubicBezTo>
                      <a:pt x="33207" y="239220"/>
                      <a:pt x="0" y="206013"/>
                      <a:pt x="0" y="165050"/>
                    </a:cubicBezTo>
                    <a:lnTo>
                      <a:pt x="0" y="74170"/>
                    </a:lnTo>
                    <a:cubicBezTo>
                      <a:pt x="0" y="33207"/>
                      <a:pt x="33207" y="0"/>
                      <a:pt x="7417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66675"/>
                <a:ext cx="1238548" cy="305895"/>
              </a:xfrm>
              <a:prstGeom prst="rect">
                <a:avLst/>
              </a:prstGeom>
            </p:spPr>
            <p:txBody>
              <a:bodyPr anchor="ctr" rtlCol="false" tIns="65363" lIns="65363" bIns="65363" rIns="65363"/>
              <a:lstStyle/>
              <a:p>
                <a:pPr algn="ctr">
                  <a:lnSpc>
                    <a:spcPts val="3762"/>
                  </a:lnSpc>
                </a:pPr>
                <a:r>
                  <a:rPr lang="en-US" sz="2687">
                    <a:solidFill>
                      <a:srgbClr val="1D2062"/>
                    </a:solidFill>
                    <a:latin typeface="Lilita One"/>
                    <a:ea typeface="Lilita One"/>
                    <a:cs typeface="Lilita One"/>
                    <a:sym typeface="Lilita One"/>
                  </a:rPr>
                  <a:t>2. AUTOMATION</a:t>
                </a: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517309" y="1758811"/>
              <a:ext cx="7533266" cy="1265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24"/>
                </a:lnSpc>
                <a:spcBef>
                  <a:spcPct val="0"/>
                </a:spcBef>
              </a:pPr>
              <a:r>
                <a:rPr lang="en-US" b="true" sz="2731" spc="-106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algorithms must be easy for a computer to implement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6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4199436" y="-8625952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-5580006" y="5584616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10915" y="-2390823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4"/>
                </a:lnTo>
                <a:lnTo>
                  <a:pt x="0" y="5796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98793" y="4319514"/>
            <a:ext cx="5191889" cy="2453547"/>
            <a:chOff x="0" y="0"/>
            <a:chExt cx="1367411" cy="6462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7411" cy="646202"/>
            </a:xfrm>
            <a:custGeom>
              <a:avLst/>
              <a:gdLst/>
              <a:ahLst/>
              <a:cxnLst/>
              <a:rect r="r" b="b" t="t" l="l"/>
              <a:pathLst>
                <a:path h="646202" w="1367411">
                  <a:moveTo>
                    <a:pt x="76049" y="0"/>
                  </a:moveTo>
                  <a:lnTo>
                    <a:pt x="1291362" y="0"/>
                  </a:lnTo>
                  <a:cubicBezTo>
                    <a:pt x="1311532" y="0"/>
                    <a:pt x="1330875" y="8012"/>
                    <a:pt x="1345137" y="22274"/>
                  </a:cubicBezTo>
                  <a:cubicBezTo>
                    <a:pt x="1359399" y="36536"/>
                    <a:pt x="1367411" y="55880"/>
                    <a:pt x="1367411" y="76049"/>
                  </a:cubicBezTo>
                  <a:lnTo>
                    <a:pt x="1367411" y="570153"/>
                  </a:lnTo>
                  <a:cubicBezTo>
                    <a:pt x="1367411" y="612153"/>
                    <a:pt x="1333363" y="646202"/>
                    <a:pt x="1291362" y="646202"/>
                  </a:cubicBezTo>
                  <a:lnTo>
                    <a:pt x="76049" y="646202"/>
                  </a:lnTo>
                  <a:cubicBezTo>
                    <a:pt x="55880" y="646202"/>
                    <a:pt x="36536" y="638189"/>
                    <a:pt x="22274" y="623927"/>
                  </a:cubicBezTo>
                  <a:cubicBezTo>
                    <a:pt x="8012" y="609665"/>
                    <a:pt x="0" y="590322"/>
                    <a:pt x="0" y="570153"/>
                  </a:cubicBezTo>
                  <a:lnTo>
                    <a:pt x="0" y="76049"/>
                  </a:lnTo>
                  <a:cubicBezTo>
                    <a:pt x="0" y="55880"/>
                    <a:pt x="8012" y="36536"/>
                    <a:pt x="22274" y="22274"/>
                  </a:cubicBezTo>
                  <a:cubicBezTo>
                    <a:pt x="36536" y="8012"/>
                    <a:pt x="55880" y="0"/>
                    <a:pt x="76049" y="0"/>
                  </a:cubicBezTo>
                  <a:close/>
                </a:path>
              </a:pathLst>
            </a:custGeom>
            <a:solidFill>
              <a:srgbClr val="1D206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67411" cy="693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321425" y="7325355"/>
            <a:ext cx="4698734" cy="2971949"/>
          </a:xfrm>
          <a:custGeom>
            <a:avLst/>
            <a:gdLst/>
            <a:ahLst/>
            <a:cxnLst/>
            <a:rect r="r" b="b" t="t" l="l"/>
            <a:pathLst>
              <a:path h="2971949" w="4698734">
                <a:moveTo>
                  <a:pt x="4698733" y="0"/>
                </a:moveTo>
                <a:lnTo>
                  <a:pt x="0" y="0"/>
                </a:lnTo>
                <a:lnTo>
                  <a:pt x="0" y="2971949"/>
                </a:lnTo>
                <a:lnTo>
                  <a:pt x="4698733" y="2971949"/>
                </a:lnTo>
                <a:lnTo>
                  <a:pt x="4698733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1425" y="215993"/>
            <a:ext cx="15118598" cy="253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STENCILS</a:t>
            </a:r>
          </a:p>
          <a:p>
            <a:pPr algn="l">
              <a:lnSpc>
                <a:spcPts val="96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17795" y="1365342"/>
            <a:ext cx="1379312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stencil determines which points are used in a numerical approximation.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Different stencils produce different formulas and different accuracy levels.</a:t>
            </a:r>
          </a:p>
        </p:txBody>
      </p:sp>
      <p:grpSp>
        <p:nvGrpSpPr>
          <p:cNvPr name="Group 11" id="11"/>
          <p:cNvGrpSpPr/>
          <p:nvPr/>
        </p:nvGrpSpPr>
        <p:grpSpPr>
          <a:xfrm rot="-628310">
            <a:off x="7389366" y="280384"/>
            <a:ext cx="453890" cy="4538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1D20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08588" y="3304316"/>
            <a:ext cx="5870825" cy="754911"/>
            <a:chOff x="0" y="0"/>
            <a:chExt cx="7827767" cy="100654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7827767" cy="1006548"/>
              <a:chOff x="0" y="0"/>
              <a:chExt cx="1546225" cy="19882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546225" cy="198824"/>
              </a:xfrm>
              <a:custGeom>
                <a:avLst/>
                <a:gdLst/>
                <a:ahLst/>
                <a:cxnLst/>
                <a:rect r="r" b="b" t="t" l="l"/>
                <a:pathLst>
                  <a:path h="198824" w="1546225">
                    <a:moveTo>
                      <a:pt x="67254" y="0"/>
                    </a:moveTo>
                    <a:lnTo>
                      <a:pt x="1478971" y="0"/>
                    </a:lnTo>
                    <a:cubicBezTo>
                      <a:pt x="1496808" y="0"/>
                      <a:pt x="1513915" y="7086"/>
                      <a:pt x="1526527" y="19698"/>
                    </a:cubicBezTo>
                    <a:cubicBezTo>
                      <a:pt x="1539140" y="32311"/>
                      <a:pt x="1546225" y="49417"/>
                      <a:pt x="1546225" y="67254"/>
                    </a:cubicBezTo>
                    <a:lnTo>
                      <a:pt x="1546225" y="131570"/>
                    </a:lnTo>
                    <a:cubicBezTo>
                      <a:pt x="1546225" y="149407"/>
                      <a:pt x="1539140" y="166513"/>
                      <a:pt x="1526527" y="179126"/>
                    </a:cubicBezTo>
                    <a:cubicBezTo>
                      <a:pt x="1513915" y="191739"/>
                      <a:pt x="1496808" y="198824"/>
                      <a:pt x="1478971" y="198824"/>
                    </a:cubicBezTo>
                    <a:lnTo>
                      <a:pt x="67254" y="198824"/>
                    </a:lnTo>
                    <a:cubicBezTo>
                      <a:pt x="49417" y="198824"/>
                      <a:pt x="32311" y="191739"/>
                      <a:pt x="19698" y="179126"/>
                    </a:cubicBezTo>
                    <a:cubicBezTo>
                      <a:pt x="7086" y="166513"/>
                      <a:pt x="0" y="149407"/>
                      <a:pt x="0" y="131570"/>
                    </a:cubicBezTo>
                    <a:lnTo>
                      <a:pt x="0" y="67254"/>
                    </a:lnTo>
                    <a:cubicBezTo>
                      <a:pt x="0" y="49417"/>
                      <a:pt x="7086" y="32311"/>
                      <a:pt x="19698" y="19698"/>
                    </a:cubicBezTo>
                    <a:cubicBezTo>
                      <a:pt x="32311" y="7086"/>
                      <a:pt x="49417" y="0"/>
                      <a:pt x="67254" y="0"/>
                    </a:cubicBezTo>
                    <a:close/>
                  </a:path>
                </a:pathLst>
              </a:custGeom>
              <a:solidFill>
                <a:srgbClr val="1D206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546225" cy="2464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42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81551" y="122274"/>
              <a:ext cx="6864665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pc="-117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examples</a:t>
              </a:r>
              <a:r>
                <a:rPr lang="en-US" b="true" sz="3000" spc="-117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 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97169" y="4319514"/>
            <a:ext cx="5191889" cy="2161383"/>
            <a:chOff x="0" y="0"/>
            <a:chExt cx="1367411" cy="5692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67411" cy="569253"/>
            </a:xfrm>
            <a:custGeom>
              <a:avLst/>
              <a:gdLst/>
              <a:ahLst/>
              <a:cxnLst/>
              <a:rect r="r" b="b" t="t" l="l"/>
              <a:pathLst>
                <a:path h="569253" w="1367411">
                  <a:moveTo>
                    <a:pt x="76049" y="0"/>
                  </a:moveTo>
                  <a:lnTo>
                    <a:pt x="1291362" y="0"/>
                  </a:lnTo>
                  <a:cubicBezTo>
                    <a:pt x="1311532" y="0"/>
                    <a:pt x="1330875" y="8012"/>
                    <a:pt x="1345137" y="22274"/>
                  </a:cubicBezTo>
                  <a:cubicBezTo>
                    <a:pt x="1359399" y="36536"/>
                    <a:pt x="1367411" y="55880"/>
                    <a:pt x="1367411" y="76049"/>
                  </a:cubicBezTo>
                  <a:lnTo>
                    <a:pt x="1367411" y="493204"/>
                  </a:lnTo>
                  <a:cubicBezTo>
                    <a:pt x="1367411" y="535205"/>
                    <a:pt x="1333363" y="569253"/>
                    <a:pt x="1291362" y="569253"/>
                  </a:cubicBezTo>
                  <a:lnTo>
                    <a:pt x="76049" y="569253"/>
                  </a:lnTo>
                  <a:cubicBezTo>
                    <a:pt x="55880" y="569253"/>
                    <a:pt x="36536" y="561241"/>
                    <a:pt x="22274" y="546979"/>
                  </a:cubicBezTo>
                  <a:cubicBezTo>
                    <a:pt x="8012" y="532717"/>
                    <a:pt x="0" y="513374"/>
                    <a:pt x="0" y="493204"/>
                  </a:cubicBezTo>
                  <a:lnTo>
                    <a:pt x="0" y="76049"/>
                  </a:lnTo>
                  <a:cubicBezTo>
                    <a:pt x="0" y="55880"/>
                    <a:pt x="8012" y="36536"/>
                    <a:pt x="22274" y="22274"/>
                  </a:cubicBezTo>
                  <a:cubicBezTo>
                    <a:pt x="36536" y="8012"/>
                    <a:pt x="55880" y="0"/>
                    <a:pt x="76049" y="0"/>
                  </a:cubicBezTo>
                  <a:close/>
                </a:path>
              </a:pathLst>
            </a:custGeom>
            <a:solidFill>
              <a:srgbClr val="1D206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367411" cy="616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48056" y="4611677"/>
            <a:ext cx="5191889" cy="2161383"/>
            <a:chOff x="0" y="0"/>
            <a:chExt cx="1367411" cy="5692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67411" cy="569253"/>
            </a:xfrm>
            <a:custGeom>
              <a:avLst/>
              <a:gdLst/>
              <a:ahLst/>
              <a:cxnLst/>
              <a:rect r="r" b="b" t="t" l="l"/>
              <a:pathLst>
                <a:path h="569253" w="1367411">
                  <a:moveTo>
                    <a:pt x="76049" y="0"/>
                  </a:moveTo>
                  <a:lnTo>
                    <a:pt x="1291362" y="0"/>
                  </a:lnTo>
                  <a:cubicBezTo>
                    <a:pt x="1311532" y="0"/>
                    <a:pt x="1330875" y="8012"/>
                    <a:pt x="1345137" y="22274"/>
                  </a:cubicBezTo>
                  <a:cubicBezTo>
                    <a:pt x="1359399" y="36536"/>
                    <a:pt x="1367411" y="55880"/>
                    <a:pt x="1367411" y="76049"/>
                  </a:cubicBezTo>
                  <a:lnTo>
                    <a:pt x="1367411" y="493204"/>
                  </a:lnTo>
                  <a:cubicBezTo>
                    <a:pt x="1367411" y="535205"/>
                    <a:pt x="1333363" y="569253"/>
                    <a:pt x="1291362" y="569253"/>
                  </a:cubicBezTo>
                  <a:lnTo>
                    <a:pt x="76049" y="569253"/>
                  </a:lnTo>
                  <a:cubicBezTo>
                    <a:pt x="55880" y="569253"/>
                    <a:pt x="36536" y="561241"/>
                    <a:pt x="22274" y="546979"/>
                  </a:cubicBezTo>
                  <a:cubicBezTo>
                    <a:pt x="8012" y="532717"/>
                    <a:pt x="0" y="513374"/>
                    <a:pt x="0" y="493204"/>
                  </a:cubicBezTo>
                  <a:lnTo>
                    <a:pt x="0" y="76049"/>
                  </a:lnTo>
                  <a:cubicBezTo>
                    <a:pt x="0" y="55880"/>
                    <a:pt x="8012" y="36536"/>
                    <a:pt x="22274" y="22274"/>
                  </a:cubicBezTo>
                  <a:cubicBezTo>
                    <a:pt x="36536" y="8012"/>
                    <a:pt x="55880" y="0"/>
                    <a:pt x="76049" y="0"/>
                  </a:cubicBezTo>
                  <a:close/>
                </a:path>
              </a:pathLst>
            </a:custGeom>
            <a:solidFill>
              <a:srgbClr val="1D206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367411" cy="616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3206" y="4516724"/>
            <a:ext cx="43465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Forward</a:t>
            </a: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Difference </a:t>
            </a: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</a:t>
            </a: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12468" y="4745324"/>
            <a:ext cx="434519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Backward Difference 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63869" y="4516724"/>
            <a:ext cx="434519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Central</a:t>
            </a: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Difference 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6081" y="5394968"/>
            <a:ext cx="43465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1D2062"/>
                </a:solidFill>
                <a:latin typeface="Now Bold"/>
                <a:ea typeface="Now Bold"/>
                <a:cs typeface="Now Bold"/>
                <a:sym typeface="Now Bold"/>
              </a:rPr>
              <a:t>x --- x+h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16269" y="5470087"/>
            <a:ext cx="43465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1D2062"/>
                </a:solidFill>
                <a:latin typeface="Now Bold"/>
                <a:ea typeface="Now Bold"/>
                <a:cs typeface="Now Bold"/>
                <a:sym typeface="Now Bold"/>
              </a:rPr>
              <a:t>x-h --- x+h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70700" y="5623568"/>
            <a:ext cx="43465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1D2062"/>
                </a:solidFill>
                <a:latin typeface="Now Bold"/>
                <a:ea typeface="Now Bold"/>
                <a:cs typeface="Now Bold"/>
                <a:sym typeface="Now Bold"/>
              </a:rPr>
              <a:t>x-h --- 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67310" y="7249310"/>
            <a:ext cx="1379312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# C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entral stencils are symmetric, which leads to higher accuracy.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6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4199436" y="-8625952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-5580006" y="5584616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10915" y="-2390823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4"/>
                </a:lnTo>
                <a:lnTo>
                  <a:pt x="0" y="5796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21425" y="7325355"/>
            <a:ext cx="4698734" cy="2971949"/>
          </a:xfrm>
          <a:custGeom>
            <a:avLst/>
            <a:gdLst/>
            <a:ahLst/>
            <a:cxnLst/>
            <a:rect r="r" b="b" t="t" l="l"/>
            <a:pathLst>
              <a:path h="2971949" w="4698734">
                <a:moveTo>
                  <a:pt x="4698733" y="0"/>
                </a:moveTo>
                <a:lnTo>
                  <a:pt x="0" y="0"/>
                </a:lnTo>
                <a:lnTo>
                  <a:pt x="0" y="2971949"/>
                </a:lnTo>
                <a:lnTo>
                  <a:pt x="4698733" y="2971949"/>
                </a:lnTo>
                <a:lnTo>
                  <a:pt x="4698733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1425" y="215993"/>
            <a:ext cx="15118598" cy="253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FINITE DIFFERENCE APPROXIMATIONS</a:t>
            </a:r>
          </a:p>
        </p:txBody>
      </p:sp>
      <p:grpSp>
        <p:nvGrpSpPr>
          <p:cNvPr name="Group 7" id="7"/>
          <p:cNvGrpSpPr/>
          <p:nvPr/>
        </p:nvGrpSpPr>
        <p:grpSpPr>
          <a:xfrm rot="-628310">
            <a:off x="7389366" y="280384"/>
            <a:ext cx="453890" cy="45389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1D206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8793" y="2755992"/>
            <a:ext cx="5870825" cy="754911"/>
            <a:chOff x="0" y="0"/>
            <a:chExt cx="7827767" cy="100654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827767" cy="1006548"/>
              <a:chOff x="0" y="0"/>
              <a:chExt cx="1546225" cy="19882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546225" cy="198824"/>
              </a:xfrm>
              <a:custGeom>
                <a:avLst/>
                <a:gdLst/>
                <a:ahLst/>
                <a:cxnLst/>
                <a:rect r="r" b="b" t="t" l="l"/>
                <a:pathLst>
                  <a:path h="198824" w="1546225">
                    <a:moveTo>
                      <a:pt x="67254" y="0"/>
                    </a:moveTo>
                    <a:lnTo>
                      <a:pt x="1478971" y="0"/>
                    </a:lnTo>
                    <a:cubicBezTo>
                      <a:pt x="1496808" y="0"/>
                      <a:pt x="1513915" y="7086"/>
                      <a:pt x="1526527" y="19698"/>
                    </a:cubicBezTo>
                    <a:cubicBezTo>
                      <a:pt x="1539140" y="32311"/>
                      <a:pt x="1546225" y="49417"/>
                      <a:pt x="1546225" y="67254"/>
                    </a:cubicBezTo>
                    <a:lnTo>
                      <a:pt x="1546225" y="131570"/>
                    </a:lnTo>
                    <a:cubicBezTo>
                      <a:pt x="1546225" y="149407"/>
                      <a:pt x="1539140" y="166513"/>
                      <a:pt x="1526527" y="179126"/>
                    </a:cubicBezTo>
                    <a:cubicBezTo>
                      <a:pt x="1513915" y="191739"/>
                      <a:pt x="1496808" y="198824"/>
                      <a:pt x="1478971" y="198824"/>
                    </a:cubicBezTo>
                    <a:lnTo>
                      <a:pt x="67254" y="198824"/>
                    </a:lnTo>
                    <a:cubicBezTo>
                      <a:pt x="49417" y="198824"/>
                      <a:pt x="32311" y="191739"/>
                      <a:pt x="19698" y="179126"/>
                    </a:cubicBezTo>
                    <a:cubicBezTo>
                      <a:pt x="7086" y="166513"/>
                      <a:pt x="0" y="149407"/>
                      <a:pt x="0" y="131570"/>
                    </a:cubicBezTo>
                    <a:lnTo>
                      <a:pt x="0" y="67254"/>
                    </a:lnTo>
                    <a:cubicBezTo>
                      <a:pt x="0" y="49417"/>
                      <a:pt x="7086" y="32311"/>
                      <a:pt x="19698" y="19698"/>
                    </a:cubicBezTo>
                    <a:cubicBezTo>
                      <a:pt x="32311" y="7086"/>
                      <a:pt x="49417" y="0"/>
                      <a:pt x="67254" y="0"/>
                    </a:cubicBezTo>
                    <a:close/>
                  </a:path>
                </a:pathLst>
              </a:custGeom>
              <a:solidFill>
                <a:srgbClr val="1D206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1546225" cy="2464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42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81551" y="122274"/>
              <a:ext cx="6864665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pc="-117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three</a:t>
              </a:r>
              <a:r>
                <a:rPr lang="en-US" b="true" sz="3000" spc="-117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 basic formulas 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2674" y="3834210"/>
            <a:ext cx="6578049" cy="3108609"/>
            <a:chOff x="0" y="0"/>
            <a:chExt cx="1367411" cy="6462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7411" cy="646202"/>
            </a:xfrm>
            <a:custGeom>
              <a:avLst/>
              <a:gdLst/>
              <a:ahLst/>
              <a:cxnLst/>
              <a:rect r="r" b="b" t="t" l="l"/>
              <a:pathLst>
                <a:path h="646202" w="1367411">
                  <a:moveTo>
                    <a:pt x="60024" y="0"/>
                  </a:moveTo>
                  <a:lnTo>
                    <a:pt x="1307388" y="0"/>
                  </a:lnTo>
                  <a:cubicBezTo>
                    <a:pt x="1340538" y="0"/>
                    <a:pt x="1367411" y="26873"/>
                    <a:pt x="1367411" y="60024"/>
                  </a:cubicBezTo>
                  <a:lnTo>
                    <a:pt x="1367411" y="586178"/>
                  </a:lnTo>
                  <a:cubicBezTo>
                    <a:pt x="1367411" y="619328"/>
                    <a:pt x="1340538" y="646202"/>
                    <a:pt x="1307388" y="646202"/>
                  </a:cubicBezTo>
                  <a:lnTo>
                    <a:pt x="60024" y="646202"/>
                  </a:lnTo>
                  <a:cubicBezTo>
                    <a:pt x="26873" y="646202"/>
                    <a:pt x="0" y="619328"/>
                    <a:pt x="0" y="586178"/>
                  </a:cubicBezTo>
                  <a:lnTo>
                    <a:pt x="0" y="60024"/>
                  </a:lnTo>
                  <a:cubicBezTo>
                    <a:pt x="0" y="26873"/>
                    <a:pt x="26873" y="0"/>
                    <a:pt x="60024" y="0"/>
                  </a:cubicBezTo>
                  <a:close/>
                </a:path>
              </a:pathLst>
            </a:custGeom>
            <a:solidFill>
              <a:srgbClr val="1D206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67411" cy="693827"/>
            </a:xfrm>
            <a:prstGeom prst="rect">
              <a:avLst/>
            </a:prstGeom>
          </p:spPr>
          <p:txBody>
            <a:bodyPr anchor="ctr" rtlCol="false" tIns="64363" lIns="64363" bIns="64363" rIns="64363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03364" y="4759883"/>
            <a:ext cx="5976669" cy="1750741"/>
          </a:xfrm>
          <a:custGeom>
            <a:avLst/>
            <a:gdLst/>
            <a:ahLst/>
            <a:cxnLst/>
            <a:rect r="r" b="b" t="t" l="l"/>
            <a:pathLst>
              <a:path h="1750741" w="5976669">
                <a:moveTo>
                  <a:pt x="0" y="0"/>
                </a:moveTo>
                <a:lnTo>
                  <a:pt x="5976669" y="0"/>
                </a:lnTo>
                <a:lnTo>
                  <a:pt x="5976669" y="1750741"/>
                </a:lnTo>
                <a:lnTo>
                  <a:pt x="0" y="17507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37682" y="4104417"/>
            <a:ext cx="5507079" cy="65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21"/>
              </a:lnSpc>
              <a:spcBef>
                <a:spcPct val="0"/>
              </a:spcBef>
            </a:pPr>
            <a:r>
              <a:rPr lang="en-US" b="true" sz="3800" spc="-148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Forward</a:t>
            </a:r>
            <a:r>
              <a:rPr lang="en-US" b="true" sz="3800" spc="-148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Difference </a:t>
            </a:r>
            <a:r>
              <a:rPr lang="en-US" b="true" sz="3800" spc="-148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</a:t>
            </a:r>
            <a:r>
              <a:rPr lang="en-US" b="true" sz="3800" spc="-148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35985" y="3978697"/>
            <a:ext cx="7120157" cy="2964121"/>
            <a:chOff x="0" y="0"/>
            <a:chExt cx="9493543" cy="395216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9493543" cy="3952161"/>
              <a:chOff x="0" y="0"/>
              <a:chExt cx="1367411" cy="56925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367411" cy="569253"/>
              </a:xfrm>
              <a:custGeom>
                <a:avLst/>
                <a:gdLst/>
                <a:ahLst/>
                <a:cxnLst/>
                <a:rect r="r" b="b" t="t" l="l"/>
                <a:pathLst>
                  <a:path h="569253" w="1367411">
                    <a:moveTo>
                      <a:pt x="76049" y="0"/>
                    </a:moveTo>
                    <a:lnTo>
                      <a:pt x="1291362" y="0"/>
                    </a:lnTo>
                    <a:cubicBezTo>
                      <a:pt x="1311532" y="0"/>
                      <a:pt x="1330875" y="8012"/>
                      <a:pt x="1345137" y="22274"/>
                    </a:cubicBezTo>
                    <a:cubicBezTo>
                      <a:pt x="1359399" y="36536"/>
                      <a:pt x="1367411" y="55880"/>
                      <a:pt x="1367411" y="76049"/>
                    </a:cubicBezTo>
                    <a:lnTo>
                      <a:pt x="1367411" y="493204"/>
                    </a:lnTo>
                    <a:cubicBezTo>
                      <a:pt x="1367411" y="535205"/>
                      <a:pt x="1333363" y="569253"/>
                      <a:pt x="1291362" y="569253"/>
                    </a:cubicBezTo>
                    <a:lnTo>
                      <a:pt x="76049" y="569253"/>
                    </a:lnTo>
                    <a:cubicBezTo>
                      <a:pt x="55880" y="569253"/>
                      <a:pt x="36536" y="561241"/>
                      <a:pt x="22274" y="546979"/>
                    </a:cubicBezTo>
                    <a:cubicBezTo>
                      <a:pt x="8012" y="532717"/>
                      <a:pt x="0" y="513374"/>
                      <a:pt x="0" y="493204"/>
                    </a:cubicBezTo>
                    <a:lnTo>
                      <a:pt x="0" y="76049"/>
                    </a:lnTo>
                    <a:cubicBezTo>
                      <a:pt x="0" y="55880"/>
                      <a:pt x="8012" y="36536"/>
                      <a:pt x="22274" y="22274"/>
                    </a:cubicBezTo>
                    <a:cubicBezTo>
                      <a:pt x="36536" y="8012"/>
                      <a:pt x="55880" y="0"/>
                      <a:pt x="76049" y="0"/>
                    </a:cubicBezTo>
                    <a:close/>
                  </a:path>
                </a:pathLst>
              </a:custGeom>
              <a:solidFill>
                <a:srgbClr val="1D2062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1367411" cy="6168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42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449106" y="1397296"/>
              <a:ext cx="8595060" cy="2020635"/>
            </a:xfrm>
            <a:custGeom>
              <a:avLst/>
              <a:gdLst/>
              <a:ahLst/>
              <a:cxnLst/>
              <a:rect r="r" b="b" t="t" l="l"/>
              <a:pathLst>
                <a:path h="2020635" w="8595060">
                  <a:moveTo>
                    <a:pt x="0" y="0"/>
                  </a:moveTo>
                  <a:lnTo>
                    <a:pt x="8595060" y="0"/>
                  </a:lnTo>
                  <a:lnTo>
                    <a:pt x="8595060" y="2020635"/>
                  </a:lnTo>
                  <a:lnTo>
                    <a:pt x="0" y="2020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769" t="0" r="-11995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483488" y="307512"/>
              <a:ext cx="7945339" cy="912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759"/>
                </a:lnSpc>
                <a:spcBef>
                  <a:spcPct val="0"/>
                </a:spcBef>
              </a:pPr>
              <a:r>
                <a:rPr lang="en-US" b="true" sz="4114" spc="-160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Backward Difference :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685448" y="7266668"/>
            <a:ext cx="6917104" cy="2879590"/>
            <a:chOff x="0" y="0"/>
            <a:chExt cx="9222805" cy="383945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9222805" cy="3839453"/>
              <a:chOff x="0" y="0"/>
              <a:chExt cx="1367411" cy="56925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367411" cy="569253"/>
              </a:xfrm>
              <a:custGeom>
                <a:avLst/>
                <a:gdLst/>
                <a:ahLst/>
                <a:cxnLst/>
                <a:rect r="r" b="b" t="t" l="l"/>
                <a:pathLst>
                  <a:path h="569253" w="1367411">
                    <a:moveTo>
                      <a:pt x="76049" y="0"/>
                    </a:moveTo>
                    <a:lnTo>
                      <a:pt x="1291362" y="0"/>
                    </a:lnTo>
                    <a:cubicBezTo>
                      <a:pt x="1311532" y="0"/>
                      <a:pt x="1330875" y="8012"/>
                      <a:pt x="1345137" y="22274"/>
                    </a:cubicBezTo>
                    <a:cubicBezTo>
                      <a:pt x="1359399" y="36536"/>
                      <a:pt x="1367411" y="55880"/>
                      <a:pt x="1367411" y="76049"/>
                    </a:cubicBezTo>
                    <a:lnTo>
                      <a:pt x="1367411" y="493204"/>
                    </a:lnTo>
                    <a:cubicBezTo>
                      <a:pt x="1367411" y="535205"/>
                      <a:pt x="1333363" y="569253"/>
                      <a:pt x="1291362" y="569253"/>
                    </a:cubicBezTo>
                    <a:lnTo>
                      <a:pt x="76049" y="569253"/>
                    </a:lnTo>
                    <a:cubicBezTo>
                      <a:pt x="55880" y="569253"/>
                      <a:pt x="36536" y="561241"/>
                      <a:pt x="22274" y="546979"/>
                    </a:cubicBezTo>
                    <a:cubicBezTo>
                      <a:pt x="8012" y="532717"/>
                      <a:pt x="0" y="513374"/>
                      <a:pt x="0" y="493204"/>
                    </a:cubicBezTo>
                    <a:lnTo>
                      <a:pt x="0" y="76049"/>
                    </a:lnTo>
                    <a:cubicBezTo>
                      <a:pt x="0" y="55880"/>
                      <a:pt x="8012" y="36536"/>
                      <a:pt x="22274" y="22274"/>
                    </a:cubicBezTo>
                    <a:cubicBezTo>
                      <a:pt x="36536" y="8012"/>
                      <a:pt x="55880" y="0"/>
                      <a:pt x="76049" y="0"/>
                    </a:cubicBezTo>
                    <a:close/>
                  </a:path>
                </a:pathLst>
              </a:custGeom>
              <a:solidFill>
                <a:srgbClr val="1D2062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1367411" cy="6168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42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346862" y="1297847"/>
              <a:ext cx="8529081" cy="2191149"/>
            </a:xfrm>
            <a:custGeom>
              <a:avLst/>
              <a:gdLst/>
              <a:ahLst/>
              <a:cxnLst/>
              <a:rect r="r" b="b" t="t" l="l"/>
              <a:pathLst>
                <a:path h="2191149" w="8529081">
                  <a:moveTo>
                    <a:pt x="0" y="0"/>
                  </a:moveTo>
                  <a:lnTo>
                    <a:pt x="8529081" y="0"/>
                  </a:lnTo>
                  <a:lnTo>
                    <a:pt x="8529081" y="2191149"/>
                  </a:lnTo>
                  <a:lnTo>
                    <a:pt x="0" y="2191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338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473762" y="399957"/>
              <a:ext cx="7718753" cy="897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95"/>
                </a:lnSpc>
                <a:spcBef>
                  <a:spcPct val="0"/>
                </a:spcBef>
              </a:pPr>
              <a:r>
                <a:rPr lang="en-US" b="true" sz="3996" spc="-155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Central</a:t>
              </a:r>
              <a:r>
                <a:rPr lang="en-US" b="true" sz="3996" spc="-155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 </a:t>
              </a:r>
              <a:r>
                <a:rPr lang="en-US" b="true" sz="3996" spc="-155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Difference :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6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4647369" y="-7569334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9"/>
                </a:lnTo>
                <a:lnTo>
                  <a:pt x="0" y="23102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-5580006" y="5584616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10915" y="-2390823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4"/>
                </a:lnTo>
                <a:lnTo>
                  <a:pt x="0" y="5796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21425" y="7325355"/>
            <a:ext cx="4698734" cy="2971949"/>
          </a:xfrm>
          <a:custGeom>
            <a:avLst/>
            <a:gdLst/>
            <a:ahLst/>
            <a:cxnLst/>
            <a:rect r="r" b="b" t="t" l="l"/>
            <a:pathLst>
              <a:path h="2971949" w="4698734">
                <a:moveTo>
                  <a:pt x="4698733" y="0"/>
                </a:moveTo>
                <a:lnTo>
                  <a:pt x="0" y="0"/>
                </a:lnTo>
                <a:lnTo>
                  <a:pt x="0" y="2971949"/>
                </a:lnTo>
                <a:lnTo>
                  <a:pt x="4698733" y="2971949"/>
                </a:lnTo>
                <a:lnTo>
                  <a:pt x="4698733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5400000">
            <a:off x="-6196872" y="-1737471"/>
            <a:ext cx="15118598" cy="13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GRAFIK</a:t>
            </a:r>
          </a:p>
        </p:txBody>
      </p:sp>
      <p:grpSp>
        <p:nvGrpSpPr>
          <p:cNvPr name="Group 7" id="7"/>
          <p:cNvGrpSpPr/>
          <p:nvPr/>
        </p:nvGrpSpPr>
        <p:grpSpPr>
          <a:xfrm rot="-628310">
            <a:off x="7389366" y="280384"/>
            <a:ext cx="453890" cy="45389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1D206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018065" y="771742"/>
            <a:ext cx="10140988" cy="6553613"/>
          </a:xfrm>
          <a:custGeom>
            <a:avLst/>
            <a:gdLst/>
            <a:ahLst/>
            <a:cxnLst/>
            <a:rect r="r" b="b" t="t" l="l"/>
            <a:pathLst>
              <a:path h="6553613" w="10140988">
                <a:moveTo>
                  <a:pt x="0" y="0"/>
                </a:moveTo>
                <a:lnTo>
                  <a:pt x="10140987" y="0"/>
                </a:lnTo>
                <a:lnTo>
                  <a:pt x="10140987" y="6553613"/>
                </a:lnTo>
                <a:lnTo>
                  <a:pt x="0" y="65536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20158" y="7439730"/>
            <a:ext cx="12598906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Forward and backward differences deviate slightly because they use one-sided points.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The central difference line aligns more closely with the true function because it uses symmetric points around x. </a:t>
            </a: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This demonstrates why central difference achieves higher accuracy.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6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305573" y="-2416946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9"/>
                </a:lnTo>
                <a:lnTo>
                  <a:pt x="0" y="23102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-5580006" y="769974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4477803"/>
            <a:ext cx="6527612" cy="4324543"/>
          </a:xfrm>
          <a:custGeom>
            <a:avLst/>
            <a:gdLst/>
            <a:ahLst/>
            <a:cxnLst/>
            <a:rect r="r" b="b" t="t" l="l"/>
            <a:pathLst>
              <a:path h="4324543" w="6527612">
                <a:moveTo>
                  <a:pt x="6527612" y="0"/>
                </a:moveTo>
                <a:lnTo>
                  <a:pt x="0" y="0"/>
                </a:lnTo>
                <a:lnTo>
                  <a:pt x="0" y="4324543"/>
                </a:lnTo>
                <a:lnTo>
                  <a:pt x="6527612" y="4324543"/>
                </a:lnTo>
                <a:lnTo>
                  <a:pt x="6527612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02804" y="702976"/>
            <a:ext cx="12956496" cy="13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>
                <a:solidFill>
                  <a:srgbClr val="3A0D07"/>
                </a:solidFill>
                <a:latin typeface="Lilita One"/>
                <a:ea typeface="Lilita One"/>
                <a:cs typeface="Lilita One"/>
                <a:sym typeface="Lilita One"/>
              </a:rPr>
              <a:t>INTERPOLATION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07654" y="2141127"/>
            <a:ext cx="14421530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Numerical differentiation</a:t>
            </a: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 can be </a:t>
            </a: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obtained </a:t>
            </a: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by constructing an </a:t>
            </a: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interpolating polynomial </a:t>
            </a: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that passes </a:t>
            </a: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t</a:t>
            </a:r>
            <a:r>
              <a:rPr lang="en-US" sz="3000" spc="-117">
                <a:solidFill>
                  <a:srgbClr val="3A0D07"/>
                </a:solidFill>
                <a:latin typeface="Now"/>
                <a:ea typeface="Now"/>
                <a:cs typeface="Now"/>
                <a:sym typeface="Now"/>
              </a:rPr>
              <a:t>hrough selected data points and then </a:t>
            </a: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differentiating that polynomial.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-216924">
            <a:off x="-1403354" y="7235340"/>
            <a:ext cx="5515974" cy="5879430"/>
          </a:xfrm>
          <a:custGeom>
            <a:avLst/>
            <a:gdLst/>
            <a:ahLst/>
            <a:cxnLst/>
            <a:rect r="r" b="b" t="t" l="l"/>
            <a:pathLst>
              <a:path h="5879430" w="5515974">
                <a:moveTo>
                  <a:pt x="5515974" y="0"/>
                </a:moveTo>
                <a:lnTo>
                  <a:pt x="0" y="0"/>
                </a:lnTo>
                <a:lnTo>
                  <a:pt x="0" y="5879429"/>
                </a:lnTo>
                <a:lnTo>
                  <a:pt x="5515974" y="5879429"/>
                </a:lnTo>
                <a:lnTo>
                  <a:pt x="551597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624773">
            <a:off x="1058653" y="1241656"/>
            <a:ext cx="3032055" cy="1253089"/>
          </a:xfrm>
          <a:custGeom>
            <a:avLst/>
            <a:gdLst/>
            <a:ahLst/>
            <a:cxnLst/>
            <a:rect r="r" b="b" t="t" l="l"/>
            <a:pathLst>
              <a:path h="1253089" w="3032055">
                <a:moveTo>
                  <a:pt x="0" y="0"/>
                </a:moveTo>
                <a:lnTo>
                  <a:pt x="3032055" y="0"/>
                </a:lnTo>
                <a:lnTo>
                  <a:pt x="3032055" y="1253090"/>
                </a:lnTo>
                <a:lnTo>
                  <a:pt x="0" y="1253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628310">
            <a:off x="9144000" y="8310988"/>
            <a:ext cx="453890" cy="45389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3A0D0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628310">
            <a:off x="15426375" y="938284"/>
            <a:ext cx="453890" cy="45389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3A0D0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711026" y="3865152"/>
            <a:ext cx="14421530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117" b="true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Lagrange Interpolation Example</a:t>
            </a:r>
          </a:p>
          <a:p>
            <a:pPr algn="l">
              <a:lnSpc>
                <a:spcPts val="4200"/>
              </a:lnSpc>
            </a:pPr>
            <a:r>
              <a:rPr lang="en-US" sz="3000" spc="-117" b="true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The interpolating polynomial for two points is: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665694" y="5038912"/>
            <a:ext cx="7299056" cy="852879"/>
          </a:xfrm>
          <a:custGeom>
            <a:avLst/>
            <a:gdLst/>
            <a:ahLst/>
            <a:cxnLst/>
            <a:rect r="r" b="b" t="t" l="l"/>
            <a:pathLst>
              <a:path h="852879" w="7299056">
                <a:moveTo>
                  <a:pt x="0" y="0"/>
                </a:moveTo>
                <a:lnTo>
                  <a:pt x="7299056" y="0"/>
                </a:lnTo>
                <a:lnTo>
                  <a:pt x="7299056" y="852879"/>
                </a:lnTo>
                <a:lnTo>
                  <a:pt x="0" y="8528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672030" y="6749041"/>
            <a:ext cx="3109021" cy="905158"/>
          </a:xfrm>
          <a:custGeom>
            <a:avLst/>
            <a:gdLst/>
            <a:ahLst/>
            <a:cxnLst/>
            <a:rect r="r" b="b" t="t" l="l"/>
            <a:pathLst>
              <a:path h="905158" w="3109021">
                <a:moveTo>
                  <a:pt x="0" y="0"/>
                </a:moveTo>
                <a:lnTo>
                  <a:pt x="3109022" y="0"/>
                </a:lnTo>
                <a:lnTo>
                  <a:pt x="3109022" y="905158"/>
                </a:lnTo>
                <a:lnTo>
                  <a:pt x="0" y="9051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711026" y="6015616"/>
            <a:ext cx="144215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117" b="true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The derivative approximation is obtained by: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92506" y="7577999"/>
            <a:ext cx="13218159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The interpolating polynomial serves as a local approximation of the true function.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Differentiating the polynomial produces derivative formulas.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117">
                <a:solidFill>
                  <a:srgbClr val="3A0D07"/>
                </a:solidFill>
                <a:latin typeface="Now Bold"/>
                <a:ea typeface="Now Bold"/>
                <a:cs typeface="Now Bold"/>
                <a:sym typeface="Now Bold"/>
              </a:rPr>
              <a:t>Different choices of stencil generate forward, backward, or central difference formulas.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6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407834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9164123" y="-5136226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9371">
            <a:off x="11098958" y="-2093845"/>
            <a:ext cx="8412151" cy="5930566"/>
          </a:xfrm>
          <a:custGeom>
            <a:avLst/>
            <a:gdLst/>
            <a:ahLst/>
            <a:cxnLst/>
            <a:rect r="r" b="b" t="t" l="l"/>
            <a:pathLst>
              <a:path h="5930566" w="8412151">
                <a:moveTo>
                  <a:pt x="0" y="0"/>
                </a:moveTo>
                <a:lnTo>
                  <a:pt x="8412151" y="0"/>
                </a:lnTo>
                <a:lnTo>
                  <a:pt x="8412151" y="5930566"/>
                </a:lnTo>
                <a:lnTo>
                  <a:pt x="0" y="59305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41017" y="-3370442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4"/>
                </a:lnTo>
                <a:lnTo>
                  <a:pt x="0" y="57963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628310">
            <a:off x="9000101" y="8834871"/>
            <a:ext cx="453890" cy="4538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2008093">
            <a:off x="16955784" y="5795253"/>
            <a:ext cx="1212462" cy="798846"/>
          </a:xfrm>
          <a:custGeom>
            <a:avLst/>
            <a:gdLst/>
            <a:ahLst/>
            <a:cxnLst/>
            <a:rect r="r" b="b" t="t" l="l"/>
            <a:pathLst>
              <a:path h="798846" w="1212462">
                <a:moveTo>
                  <a:pt x="0" y="0"/>
                </a:moveTo>
                <a:lnTo>
                  <a:pt x="1212462" y="0"/>
                </a:lnTo>
                <a:lnTo>
                  <a:pt x="1212462" y="798847"/>
                </a:lnTo>
                <a:lnTo>
                  <a:pt x="0" y="7988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1579958" y="1620210"/>
            <a:ext cx="6795262" cy="1031090"/>
            <a:chOff x="0" y="0"/>
            <a:chExt cx="1580995" cy="2398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0995" cy="239895"/>
            </a:xfrm>
            <a:custGeom>
              <a:avLst/>
              <a:gdLst/>
              <a:ahLst/>
              <a:cxnLst/>
              <a:rect r="r" b="b" t="t" l="l"/>
              <a:pathLst>
                <a:path h="239895" w="1580995">
                  <a:moveTo>
                    <a:pt x="58105" y="0"/>
                  </a:moveTo>
                  <a:lnTo>
                    <a:pt x="1522890" y="0"/>
                  </a:lnTo>
                  <a:cubicBezTo>
                    <a:pt x="1554980" y="0"/>
                    <a:pt x="1580995" y="26014"/>
                    <a:pt x="1580995" y="58105"/>
                  </a:cubicBezTo>
                  <a:lnTo>
                    <a:pt x="1580995" y="181790"/>
                  </a:lnTo>
                  <a:cubicBezTo>
                    <a:pt x="1580995" y="213880"/>
                    <a:pt x="1554980" y="239895"/>
                    <a:pt x="1522890" y="239895"/>
                  </a:cubicBezTo>
                  <a:lnTo>
                    <a:pt x="58105" y="239895"/>
                  </a:lnTo>
                  <a:cubicBezTo>
                    <a:pt x="26014" y="239895"/>
                    <a:pt x="0" y="213880"/>
                    <a:pt x="0" y="181790"/>
                  </a:cubicBezTo>
                  <a:lnTo>
                    <a:pt x="0" y="58105"/>
                  </a:lnTo>
                  <a:cubicBezTo>
                    <a:pt x="0" y="26014"/>
                    <a:pt x="26014" y="0"/>
                    <a:pt x="581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580995" cy="306570"/>
            </a:xfrm>
            <a:prstGeom prst="rect">
              <a:avLst/>
            </a:prstGeom>
          </p:spPr>
          <p:txBody>
            <a:bodyPr anchor="ctr" rtlCol="false" tIns="65363" lIns="65363" bIns="65363" rIns="65363"/>
            <a:lstStyle/>
            <a:p>
              <a:pPr algn="l">
                <a:lnSpc>
                  <a:spcPts val="3762"/>
                </a:lnSpc>
              </a:pPr>
              <a:r>
                <a:rPr lang="en-US" sz="2687">
                  <a:solidFill>
                    <a:srgbClr val="1D2062"/>
                  </a:solidFill>
                  <a:latin typeface="Lilita One"/>
                  <a:ea typeface="Lilita One"/>
                  <a:cs typeface="Lilita One"/>
                  <a:sym typeface="Lilita One"/>
                </a:rPr>
                <a:t>APPROXIMATE THE DEFINITE INTEGRAL :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144000" y="1724450"/>
            <a:ext cx="3253012" cy="1853700"/>
          </a:xfrm>
          <a:custGeom>
            <a:avLst/>
            <a:gdLst/>
            <a:ahLst/>
            <a:cxnLst/>
            <a:rect r="r" b="b" t="t" l="l"/>
            <a:pathLst>
              <a:path h="1853700" w="3253012">
                <a:moveTo>
                  <a:pt x="0" y="0"/>
                </a:moveTo>
                <a:lnTo>
                  <a:pt x="3253012" y="0"/>
                </a:lnTo>
                <a:lnTo>
                  <a:pt x="3253012" y="1853700"/>
                </a:lnTo>
                <a:lnTo>
                  <a:pt x="0" y="1853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2829" t="-15009" r="-9408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89940" y="3639839"/>
            <a:ext cx="5877053" cy="3222354"/>
            <a:chOff x="0" y="0"/>
            <a:chExt cx="7836071" cy="429647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626913"/>
              <a:ext cx="7836071" cy="3669559"/>
              <a:chOff x="0" y="0"/>
              <a:chExt cx="1495061" cy="70012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95061" cy="700123"/>
              </a:xfrm>
              <a:custGeom>
                <a:avLst/>
                <a:gdLst/>
                <a:ahLst/>
                <a:cxnLst/>
                <a:rect r="r" b="b" t="t" l="l"/>
                <a:pathLst>
                  <a:path h="700123" w="1495061">
                    <a:moveTo>
                      <a:pt x="67183" y="0"/>
                    </a:moveTo>
                    <a:lnTo>
                      <a:pt x="1427878" y="0"/>
                    </a:lnTo>
                    <a:cubicBezTo>
                      <a:pt x="1464982" y="0"/>
                      <a:pt x="1495061" y="30079"/>
                      <a:pt x="1495061" y="67183"/>
                    </a:cubicBezTo>
                    <a:lnTo>
                      <a:pt x="1495061" y="632940"/>
                    </a:lnTo>
                    <a:cubicBezTo>
                      <a:pt x="1495061" y="650758"/>
                      <a:pt x="1487983" y="667847"/>
                      <a:pt x="1475384" y="680446"/>
                    </a:cubicBezTo>
                    <a:cubicBezTo>
                      <a:pt x="1462785" y="693045"/>
                      <a:pt x="1445696" y="700123"/>
                      <a:pt x="1427878" y="700123"/>
                    </a:cubicBezTo>
                    <a:lnTo>
                      <a:pt x="67183" y="700123"/>
                    </a:lnTo>
                    <a:cubicBezTo>
                      <a:pt x="49365" y="700123"/>
                      <a:pt x="32277" y="693045"/>
                      <a:pt x="19677" y="680446"/>
                    </a:cubicBezTo>
                    <a:cubicBezTo>
                      <a:pt x="7078" y="667847"/>
                      <a:pt x="0" y="650758"/>
                      <a:pt x="0" y="632940"/>
                    </a:cubicBezTo>
                    <a:lnTo>
                      <a:pt x="0" y="67183"/>
                    </a:lnTo>
                    <a:cubicBezTo>
                      <a:pt x="0" y="49365"/>
                      <a:pt x="7078" y="32277"/>
                      <a:pt x="19677" y="19677"/>
                    </a:cubicBezTo>
                    <a:cubicBezTo>
                      <a:pt x="32277" y="7078"/>
                      <a:pt x="49365" y="0"/>
                      <a:pt x="67183" y="0"/>
                    </a:cubicBezTo>
                    <a:close/>
                  </a:path>
                </a:pathLst>
              </a:custGeom>
              <a:solidFill>
                <a:srgbClr val="7A452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495061" cy="747748"/>
              </a:xfrm>
              <a:prstGeom prst="rect">
                <a:avLst/>
              </a:prstGeom>
            </p:spPr>
            <p:txBody>
              <a:bodyPr anchor="ctr" rtlCol="false" tIns="59780" lIns="59780" bIns="59780" rIns="59780"/>
              <a:lstStyle/>
              <a:p>
                <a:pPr algn="ctr">
                  <a:lnSpc>
                    <a:spcPts val="3342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7836071" cy="1253826"/>
              <a:chOff x="0" y="0"/>
              <a:chExt cx="1495061" cy="23922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95061" cy="239220"/>
              </a:xfrm>
              <a:custGeom>
                <a:avLst/>
                <a:gdLst/>
                <a:ahLst/>
                <a:cxnLst/>
                <a:rect r="r" b="b" t="t" l="l"/>
                <a:pathLst>
                  <a:path h="239220" w="1495061">
                    <a:moveTo>
                      <a:pt x="67183" y="0"/>
                    </a:moveTo>
                    <a:lnTo>
                      <a:pt x="1427878" y="0"/>
                    </a:lnTo>
                    <a:cubicBezTo>
                      <a:pt x="1464982" y="0"/>
                      <a:pt x="1495061" y="30079"/>
                      <a:pt x="1495061" y="67183"/>
                    </a:cubicBezTo>
                    <a:lnTo>
                      <a:pt x="1495061" y="172037"/>
                    </a:lnTo>
                    <a:cubicBezTo>
                      <a:pt x="1495061" y="189855"/>
                      <a:pt x="1487983" y="206943"/>
                      <a:pt x="1475384" y="219543"/>
                    </a:cubicBezTo>
                    <a:cubicBezTo>
                      <a:pt x="1462785" y="232142"/>
                      <a:pt x="1445696" y="239220"/>
                      <a:pt x="1427878" y="239220"/>
                    </a:cubicBezTo>
                    <a:lnTo>
                      <a:pt x="67183" y="239220"/>
                    </a:lnTo>
                    <a:cubicBezTo>
                      <a:pt x="49365" y="239220"/>
                      <a:pt x="32277" y="232142"/>
                      <a:pt x="19677" y="219543"/>
                    </a:cubicBezTo>
                    <a:cubicBezTo>
                      <a:pt x="7078" y="206943"/>
                      <a:pt x="0" y="189855"/>
                      <a:pt x="0" y="172037"/>
                    </a:cubicBezTo>
                    <a:lnTo>
                      <a:pt x="0" y="67183"/>
                    </a:lnTo>
                    <a:cubicBezTo>
                      <a:pt x="0" y="49365"/>
                      <a:pt x="7078" y="32277"/>
                      <a:pt x="19677" y="19677"/>
                    </a:cubicBezTo>
                    <a:cubicBezTo>
                      <a:pt x="32277" y="7078"/>
                      <a:pt x="49365" y="0"/>
                      <a:pt x="6718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66675"/>
                <a:ext cx="1495061" cy="305895"/>
              </a:xfrm>
              <a:prstGeom prst="rect">
                <a:avLst/>
              </a:prstGeom>
            </p:spPr>
            <p:txBody>
              <a:bodyPr anchor="ctr" rtlCol="false" tIns="59780" lIns="59780" bIns="59780" rIns="59780"/>
              <a:lstStyle/>
              <a:p>
                <a:pPr algn="l">
                  <a:lnSpc>
                    <a:spcPts val="3762"/>
                  </a:lnSpc>
                </a:pPr>
                <a:r>
                  <a:rPr lang="en-US" sz="2687">
                    <a:solidFill>
                      <a:srgbClr val="1D2062"/>
                    </a:solidFill>
                    <a:latin typeface="Lilita One"/>
                    <a:ea typeface="Lilita One"/>
                    <a:cs typeface="Lilita One"/>
                    <a:sym typeface="Lilita One"/>
                  </a:rPr>
                  <a:t>  RECTANGLE RULE</a:t>
                </a: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947606" y="1751690"/>
              <a:ext cx="5940860" cy="1654760"/>
            </a:xfrm>
            <a:custGeom>
              <a:avLst/>
              <a:gdLst/>
              <a:ahLst/>
              <a:cxnLst/>
              <a:rect r="r" b="b" t="t" l="l"/>
              <a:pathLst>
                <a:path h="1654760" w="5940860">
                  <a:moveTo>
                    <a:pt x="0" y="0"/>
                  </a:moveTo>
                  <a:lnTo>
                    <a:pt x="5940859" y="0"/>
                  </a:lnTo>
                  <a:lnTo>
                    <a:pt x="5940859" y="1654760"/>
                  </a:lnTo>
                  <a:lnTo>
                    <a:pt x="0" y="1654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288519" y="3639839"/>
            <a:ext cx="5877053" cy="3222354"/>
            <a:chOff x="0" y="0"/>
            <a:chExt cx="7836071" cy="4296472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626913"/>
              <a:ext cx="7836071" cy="3669559"/>
              <a:chOff x="0" y="0"/>
              <a:chExt cx="1495061" cy="70012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95061" cy="700123"/>
              </a:xfrm>
              <a:custGeom>
                <a:avLst/>
                <a:gdLst/>
                <a:ahLst/>
                <a:cxnLst/>
                <a:rect r="r" b="b" t="t" l="l"/>
                <a:pathLst>
                  <a:path h="700123" w="1495061">
                    <a:moveTo>
                      <a:pt x="67183" y="0"/>
                    </a:moveTo>
                    <a:lnTo>
                      <a:pt x="1427878" y="0"/>
                    </a:lnTo>
                    <a:cubicBezTo>
                      <a:pt x="1464982" y="0"/>
                      <a:pt x="1495061" y="30079"/>
                      <a:pt x="1495061" y="67183"/>
                    </a:cubicBezTo>
                    <a:lnTo>
                      <a:pt x="1495061" y="632940"/>
                    </a:lnTo>
                    <a:cubicBezTo>
                      <a:pt x="1495061" y="650758"/>
                      <a:pt x="1487983" y="667847"/>
                      <a:pt x="1475384" y="680446"/>
                    </a:cubicBezTo>
                    <a:cubicBezTo>
                      <a:pt x="1462785" y="693045"/>
                      <a:pt x="1445696" y="700123"/>
                      <a:pt x="1427878" y="700123"/>
                    </a:cubicBezTo>
                    <a:lnTo>
                      <a:pt x="67183" y="700123"/>
                    </a:lnTo>
                    <a:cubicBezTo>
                      <a:pt x="49365" y="700123"/>
                      <a:pt x="32277" y="693045"/>
                      <a:pt x="19677" y="680446"/>
                    </a:cubicBezTo>
                    <a:cubicBezTo>
                      <a:pt x="7078" y="667847"/>
                      <a:pt x="0" y="650758"/>
                      <a:pt x="0" y="632940"/>
                    </a:cubicBezTo>
                    <a:lnTo>
                      <a:pt x="0" y="67183"/>
                    </a:lnTo>
                    <a:cubicBezTo>
                      <a:pt x="0" y="49365"/>
                      <a:pt x="7078" y="32277"/>
                      <a:pt x="19677" y="19677"/>
                    </a:cubicBezTo>
                    <a:cubicBezTo>
                      <a:pt x="32277" y="7078"/>
                      <a:pt x="49365" y="0"/>
                      <a:pt x="67183" y="0"/>
                    </a:cubicBezTo>
                    <a:close/>
                  </a:path>
                </a:pathLst>
              </a:custGeom>
              <a:solidFill>
                <a:srgbClr val="7A4527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1495061" cy="747748"/>
              </a:xfrm>
              <a:prstGeom prst="rect">
                <a:avLst/>
              </a:prstGeom>
            </p:spPr>
            <p:txBody>
              <a:bodyPr anchor="ctr" rtlCol="false" tIns="59780" lIns="59780" bIns="59780" rIns="59780"/>
              <a:lstStyle/>
              <a:p>
                <a:pPr algn="ctr">
                  <a:lnSpc>
                    <a:spcPts val="3342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7836071" cy="1253826"/>
              <a:chOff x="0" y="0"/>
              <a:chExt cx="1495061" cy="23922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495061" cy="239220"/>
              </a:xfrm>
              <a:custGeom>
                <a:avLst/>
                <a:gdLst/>
                <a:ahLst/>
                <a:cxnLst/>
                <a:rect r="r" b="b" t="t" l="l"/>
                <a:pathLst>
                  <a:path h="239220" w="1495061">
                    <a:moveTo>
                      <a:pt x="67183" y="0"/>
                    </a:moveTo>
                    <a:lnTo>
                      <a:pt x="1427878" y="0"/>
                    </a:lnTo>
                    <a:cubicBezTo>
                      <a:pt x="1464982" y="0"/>
                      <a:pt x="1495061" y="30079"/>
                      <a:pt x="1495061" y="67183"/>
                    </a:cubicBezTo>
                    <a:lnTo>
                      <a:pt x="1495061" y="172037"/>
                    </a:lnTo>
                    <a:cubicBezTo>
                      <a:pt x="1495061" y="189855"/>
                      <a:pt x="1487983" y="206943"/>
                      <a:pt x="1475384" y="219543"/>
                    </a:cubicBezTo>
                    <a:cubicBezTo>
                      <a:pt x="1462785" y="232142"/>
                      <a:pt x="1445696" y="239220"/>
                      <a:pt x="1427878" y="239220"/>
                    </a:cubicBezTo>
                    <a:lnTo>
                      <a:pt x="67183" y="239220"/>
                    </a:lnTo>
                    <a:cubicBezTo>
                      <a:pt x="49365" y="239220"/>
                      <a:pt x="32277" y="232142"/>
                      <a:pt x="19677" y="219543"/>
                    </a:cubicBezTo>
                    <a:cubicBezTo>
                      <a:pt x="7078" y="206943"/>
                      <a:pt x="0" y="189855"/>
                      <a:pt x="0" y="172037"/>
                    </a:cubicBezTo>
                    <a:lnTo>
                      <a:pt x="0" y="67183"/>
                    </a:lnTo>
                    <a:cubicBezTo>
                      <a:pt x="0" y="49365"/>
                      <a:pt x="7078" y="32277"/>
                      <a:pt x="19677" y="19677"/>
                    </a:cubicBezTo>
                    <a:cubicBezTo>
                      <a:pt x="32277" y="7078"/>
                      <a:pt x="49365" y="0"/>
                      <a:pt x="6718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66675"/>
                <a:ext cx="1495061" cy="305895"/>
              </a:xfrm>
              <a:prstGeom prst="rect">
                <a:avLst/>
              </a:prstGeom>
            </p:spPr>
            <p:txBody>
              <a:bodyPr anchor="ctr" rtlCol="false" tIns="59780" lIns="59780" bIns="59780" rIns="59780"/>
              <a:lstStyle/>
              <a:p>
                <a:pPr algn="l">
                  <a:lnSpc>
                    <a:spcPts val="3762"/>
                  </a:lnSpc>
                </a:pPr>
                <a:r>
                  <a:rPr lang="en-US" sz="2687">
                    <a:solidFill>
                      <a:srgbClr val="1D2062"/>
                    </a:solidFill>
                    <a:latin typeface="Lilita One"/>
                    <a:ea typeface="Lilita One"/>
                    <a:cs typeface="Lilita One"/>
                    <a:sym typeface="Lilita One"/>
                  </a:rPr>
                  <a:t>TRAPEZOIDAL RULE</a:t>
                </a: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271296" y="1751690"/>
              <a:ext cx="7293480" cy="1616169"/>
            </a:xfrm>
            <a:custGeom>
              <a:avLst/>
              <a:gdLst/>
              <a:ahLst/>
              <a:cxnLst/>
              <a:rect r="r" b="b" t="t" l="l"/>
              <a:pathLst>
                <a:path h="1616169" w="7293480">
                  <a:moveTo>
                    <a:pt x="0" y="0"/>
                  </a:moveTo>
                  <a:lnTo>
                    <a:pt x="7293480" y="0"/>
                  </a:lnTo>
                  <a:lnTo>
                    <a:pt x="7293480" y="1616169"/>
                  </a:lnTo>
                  <a:lnTo>
                    <a:pt x="0" y="1616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289397" y="4110024"/>
            <a:ext cx="5877053" cy="2752169"/>
            <a:chOff x="0" y="0"/>
            <a:chExt cx="1495061" cy="7001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95061" cy="700123"/>
            </a:xfrm>
            <a:custGeom>
              <a:avLst/>
              <a:gdLst/>
              <a:ahLst/>
              <a:cxnLst/>
              <a:rect r="r" b="b" t="t" l="l"/>
              <a:pathLst>
                <a:path h="700123" w="1495061">
                  <a:moveTo>
                    <a:pt x="67183" y="0"/>
                  </a:moveTo>
                  <a:lnTo>
                    <a:pt x="1427878" y="0"/>
                  </a:lnTo>
                  <a:cubicBezTo>
                    <a:pt x="1464982" y="0"/>
                    <a:pt x="1495061" y="30079"/>
                    <a:pt x="1495061" y="67183"/>
                  </a:cubicBezTo>
                  <a:lnTo>
                    <a:pt x="1495061" y="632940"/>
                  </a:lnTo>
                  <a:cubicBezTo>
                    <a:pt x="1495061" y="650758"/>
                    <a:pt x="1487983" y="667847"/>
                    <a:pt x="1475384" y="680446"/>
                  </a:cubicBezTo>
                  <a:cubicBezTo>
                    <a:pt x="1462785" y="693045"/>
                    <a:pt x="1445696" y="700123"/>
                    <a:pt x="1427878" y="700123"/>
                  </a:cubicBezTo>
                  <a:lnTo>
                    <a:pt x="67183" y="700123"/>
                  </a:lnTo>
                  <a:cubicBezTo>
                    <a:pt x="49365" y="700123"/>
                    <a:pt x="32277" y="693045"/>
                    <a:pt x="19677" y="680446"/>
                  </a:cubicBezTo>
                  <a:cubicBezTo>
                    <a:pt x="7078" y="667847"/>
                    <a:pt x="0" y="650758"/>
                    <a:pt x="0" y="632940"/>
                  </a:cubicBezTo>
                  <a:lnTo>
                    <a:pt x="0" y="67183"/>
                  </a:lnTo>
                  <a:cubicBezTo>
                    <a:pt x="0" y="49365"/>
                    <a:pt x="7078" y="32277"/>
                    <a:pt x="19677" y="19677"/>
                  </a:cubicBezTo>
                  <a:cubicBezTo>
                    <a:pt x="32277" y="7078"/>
                    <a:pt x="49365" y="0"/>
                    <a:pt x="67183" y="0"/>
                  </a:cubicBezTo>
                  <a:close/>
                </a:path>
              </a:pathLst>
            </a:custGeom>
            <a:solidFill>
              <a:srgbClr val="7A452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495061" cy="747748"/>
            </a:xfrm>
            <a:prstGeom prst="rect">
              <a:avLst/>
            </a:prstGeom>
          </p:spPr>
          <p:txBody>
            <a:bodyPr anchor="ctr" rtlCol="false" tIns="59780" lIns="59780" bIns="59780" rIns="5978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289397" y="3639839"/>
            <a:ext cx="5877053" cy="940369"/>
            <a:chOff x="0" y="0"/>
            <a:chExt cx="1495061" cy="2392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95061" cy="239220"/>
            </a:xfrm>
            <a:custGeom>
              <a:avLst/>
              <a:gdLst/>
              <a:ahLst/>
              <a:cxnLst/>
              <a:rect r="r" b="b" t="t" l="l"/>
              <a:pathLst>
                <a:path h="239220" w="1495061">
                  <a:moveTo>
                    <a:pt x="67183" y="0"/>
                  </a:moveTo>
                  <a:lnTo>
                    <a:pt x="1427878" y="0"/>
                  </a:lnTo>
                  <a:cubicBezTo>
                    <a:pt x="1464982" y="0"/>
                    <a:pt x="1495061" y="30079"/>
                    <a:pt x="1495061" y="67183"/>
                  </a:cubicBezTo>
                  <a:lnTo>
                    <a:pt x="1495061" y="172037"/>
                  </a:lnTo>
                  <a:cubicBezTo>
                    <a:pt x="1495061" y="189855"/>
                    <a:pt x="1487983" y="206943"/>
                    <a:pt x="1475384" y="219543"/>
                  </a:cubicBezTo>
                  <a:cubicBezTo>
                    <a:pt x="1462785" y="232142"/>
                    <a:pt x="1445696" y="239220"/>
                    <a:pt x="1427878" y="239220"/>
                  </a:cubicBezTo>
                  <a:lnTo>
                    <a:pt x="67183" y="239220"/>
                  </a:lnTo>
                  <a:cubicBezTo>
                    <a:pt x="49365" y="239220"/>
                    <a:pt x="32277" y="232142"/>
                    <a:pt x="19677" y="219543"/>
                  </a:cubicBezTo>
                  <a:cubicBezTo>
                    <a:pt x="7078" y="206943"/>
                    <a:pt x="0" y="189855"/>
                    <a:pt x="0" y="172037"/>
                  </a:cubicBezTo>
                  <a:lnTo>
                    <a:pt x="0" y="67183"/>
                  </a:lnTo>
                  <a:cubicBezTo>
                    <a:pt x="0" y="49365"/>
                    <a:pt x="7078" y="32277"/>
                    <a:pt x="19677" y="19677"/>
                  </a:cubicBezTo>
                  <a:cubicBezTo>
                    <a:pt x="32277" y="7078"/>
                    <a:pt x="49365" y="0"/>
                    <a:pt x="671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495061" cy="305895"/>
            </a:xfrm>
            <a:prstGeom prst="rect">
              <a:avLst/>
            </a:prstGeom>
          </p:spPr>
          <p:txBody>
            <a:bodyPr anchor="ctr" rtlCol="false" tIns="59780" lIns="59780" bIns="59780" rIns="59780"/>
            <a:lstStyle/>
            <a:p>
              <a:pPr algn="l">
                <a:lnSpc>
                  <a:spcPts val="3762"/>
                </a:lnSpc>
              </a:pPr>
              <a:r>
                <a:rPr lang="en-US" sz="2687">
                  <a:solidFill>
                    <a:srgbClr val="1D2062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SIMPSON’S RULE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2442852" y="5005923"/>
            <a:ext cx="5570145" cy="960370"/>
          </a:xfrm>
          <a:custGeom>
            <a:avLst/>
            <a:gdLst/>
            <a:ahLst/>
            <a:cxnLst/>
            <a:rect r="r" b="b" t="t" l="l"/>
            <a:pathLst>
              <a:path h="960370" w="5570145">
                <a:moveTo>
                  <a:pt x="0" y="0"/>
                </a:moveTo>
                <a:lnTo>
                  <a:pt x="5570144" y="0"/>
                </a:lnTo>
                <a:lnTo>
                  <a:pt x="5570144" y="960370"/>
                </a:lnTo>
                <a:lnTo>
                  <a:pt x="0" y="9603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89940" y="136878"/>
            <a:ext cx="16170559" cy="13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NUMERICAL INTEGRATION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50444" y="7081268"/>
            <a:ext cx="5616549" cy="184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THIS METHOD ASSUMES THE FUNCTION IS CONSTANT OVER THE INTERVAL,</a:t>
            </a:r>
          </a:p>
          <a:p>
            <a:pPr algn="l">
              <a:lnSpc>
                <a:spcPts val="2910"/>
              </a:lnSpc>
            </a:pPr>
            <a:r>
              <a:rPr lang="en-US" sz="3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RESULTING IN FIRST-ORDER ACCURACY (O(H)).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49023" y="7046595"/>
            <a:ext cx="5616549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FUNCTION IS APPROXIMATED BY A STRAIGHT LINE BETWEEN TWO POINTS, GIVING SECOND-ORDER ACCURACY (O(H²)).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96447" y="7081268"/>
            <a:ext cx="5616549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THIS RULE USES A QUADRATIC INTERPOLATION (PARABOLA) TO APPROXIMATE THE INTEGRAND, LEADING TO FOURTH-ORDER ACCURACY (O(H⁴)).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603272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9"/>
                </a:lnTo>
                <a:lnTo>
                  <a:pt x="0" y="23102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3122323" y="6714746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3" y="0"/>
                </a:lnTo>
                <a:lnTo>
                  <a:pt x="13217413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45268" y="2362985"/>
            <a:ext cx="11626365" cy="258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9"/>
              </a:lnSpc>
            </a:pPr>
            <a:r>
              <a:rPr lang="en-US" sz="10499" spc="1217">
                <a:solidFill>
                  <a:srgbClr val="FFF8E3"/>
                </a:solidFill>
                <a:latin typeface="Lilita One"/>
                <a:ea typeface="Lilita One"/>
                <a:cs typeface="Lilita One"/>
                <a:sym typeface="Lilita One"/>
              </a:rPr>
              <a:t>UNDETERMINED COEFFICIENTS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869452" y="-2898152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4"/>
                </a:lnTo>
                <a:lnTo>
                  <a:pt x="0" y="5796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427498">
            <a:off x="13486772" y="-59862"/>
            <a:ext cx="5267908" cy="2177124"/>
          </a:xfrm>
          <a:custGeom>
            <a:avLst/>
            <a:gdLst/>
            <a:ahLst/>
            <a:cxnLst/>
            <a:rect r="r" b="b" t="t" l="l"/>
            <a:pathLst>
              <a:path h="2177124" w="5267908">
                <a:moveTo>
                  <a:pt x="0" y="0"/>
                </a:moveTo>
                <a:lnTo>
                  <a:pt x="5267909" y="0"/>
                </a:lnTo>
                <a:lnTo>
                  <a:pt x="5267909" y="2177124"/>
                </a:lnTo>
                <a:lnTo>
                  <a:pt x="0" y="21771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399107">
            <a:off x="2772388" y="4322438"/>
            <a:ext cx="1212462" cy="798846"/>
          </a:xfrm>
          <a:custGeom>
            <a:avLst/>
            <a:gdLst/>
            <a:ahLst/>
            <a:cxnLst/>
            <a:rect r="r" b="b" t="t" l="l"/>
            <a:pathLst>
              <a:path h="798846" w="1212462">
                <a:moveTo>
                  <a:pt x="0" y="0"/>
                </a:moveTo>
                <a:lnTo>
                  <a:pt x="1212462" y="0"/>
                </a:lnTo>
                <a:lnTo>
                  <a:pt x="1212462" y="798847"/>
                </a:lnTo>
                <a:lnTo>
                  <a:pt x="0" y="7988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-628310">
            <a:off x="15044689" y="4916555"/>
            <a:ext cx="453890" cy="4538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5377A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76577" y="5808096"/>
            <a:ext cx="2889295" cy="4048049"/>
          </a:xfrm>
          <a:custGeom>
            <a:avLst/>
            <a:gdLst/>
            <a:ahLst/>
            <a:cxnLst/>
            <a:rect r="r" b="b" t="t" l="l"/>
            <a:pathLst>
              <a:path h="4048049" w="2889295">
                <a:moveTo>
                  <a:pt x="0" y="0"/>
                </a:moveTo>
                <a:lnTo>
                  <a:pt x="2889295" y="0"/>
                </a:lnTo>
                <a:lnTo>
                  <a:pt x="2889295" y="4048049"/>
                </a:lnTo>
                <a:lnTo>
                  <a:pt x="0" y="40480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84498" y="6211769"/>
            <a:ext cx="3412461" cy="3644376"/>
          </a:xfrm>
          <a:custGeom>
            <a:avLst/>
            <a:gdLst/>
            <a:ahLst/>
            <a:cxnLst/>
            <a:rect r="r" b="b" t="t" l="l"/>
            <a:pathLst>
              <a:path h="3644376" w="3412461">
                <a:moveTo>
                  <a:pt x="0" y="0"/>
                </a:moveTo>
                <a:lnTo>
                  <a:pt x="3412461" y="0"/>
                </a:lnTo>
                <a:lnTo>
                  <a:pt x="3412461" y="3644376"/>
                </a:lnTo>
                <a:lnTo>
                  <a:pt x="0" y="36443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08539" y="5341261"/>
            <a:ext cx="8270923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pc="-14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 Powerful Method for Deriving Numerical Formulas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603272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9"/>
                </a:lnTo>
                <a:lnTo>
                  <a:pt x="0" y="23102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271634" y="-2913921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5"/>
                </a:lnTo>
                <a:lnTo>
                  <a:pt x="0" y="5796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1518" y="2067162"/>
            <a:ext cx="16405556" cy="6568311"/>
            <a:chOff x="0" y="0"/>
            <a:chExt cx="4911167" cy="19662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11167" cy="1966289"/>
            </a:xfrm>
            <a:custGeom>
              <a:avLst/>
              <a:gdLst/>
              <a:ahLst/>
              <a:cxnLst/>
              <a:rect r="r" b="b" t="t" l="l"/>
              <a:pathLst>
                <a:path h="1966289" w="4911167">
                  <a:moveTo>
                    <a:pt x="24067" y="0"/>
                  </a:moveTo>
                  <a:lnTo>
                    <a:pt x="4887100" y="0"/>
                  </a:lnTo>
                  <a:cubicBezTo>
                    <a:pt x="4893483" y="0"/>
                    <a:pt x="4899604" y="2536"/>
                    <a:pt x="4904118" y="7049"/>
                  </a:cubicBezTo>
                  <a:cubicBezTo>
                    <a:pt x="4908631" y="11563"/>
                    <a:pt x="4911167" y="17684"/>
                    <a:pt x="4911167" y="24067"/>
                  </a:cubicBezTo>
                  <a:lnTo>
                    <a:pt x="4911167" y="1942222"/>
                  </a:lnTo>
                  <a:cubicBezTo>
                    <a:pt x="4911167" y="1955514"/>
                    <a:pt x="4900392" y="1966289"/>
                    <a:pt x="4887100" y="1966289"/>
                  </a:cubicBezTo>
                  <a:lnTo>
                    <a:pt x="24067" y="1966289"/>
                  </a:lnTo>
                  <a:cubicBezTo>
                    <a:pt x="17684" y="1966289"/>
                    <a:pt x="11563" y="1963754"/>
                    <a:pt x="7049" y="1959240"/>
                  </a:cubicBezTo>
                  <a:cubicBezTo>
                    <a:pt x="2536" y="1954727"/>
                    <a:pt x="0" y="1948605"/>
                    <a:pt x="0" y="1942222"/>
                  </a:cubicBezTo>
                  <a:lnTo>
                    <a:pt x="0" y="24067"/>
                  </a:lnTo>
                  <a:cubicBezTo>
                    <a:pt x="0" y="17684"/>
                    <a:pt x="2536" y="11563"/>
                    <a:pt x="7049" y="7049"/>
                  </a:cubicBezTo>
                  <a:cubicBezTo>
                    <a:pt x="11563" y="2536"/>
                    <a:pt x="17684" y="0"/>
                    <a:pt x="2406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911167" cy="2013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74835" y="7867484"/>
            <a:ext cx="2265547" cy="2419516"/>
          </a:xfrm>
          <a:custGeom>
            <a:avLst/>
            <a:gdLst/>
            <a:ahLst/>
            <a:cxnLst/>
            <a:rect r="r" b="b" t="t" l="l"/>
            <a:pathLst>
              <a:path h="2419516" w="2265547">
                <a:moveTo>
                  <a:pt x="0" y="0"/>
                </a:moveTo>
                <a:lnTo>
                  <a:pt x="2265548" y="0"/>
                </a:lnTo>
                <a:lnTo>
                  <a:pt x="2265548" y="2419516"/>
                </a:lnTo>
                <a:lnTo>
                  <a:pt x="0" y="24195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6261" y="2263140"/>
            <a:ext cx="15596068" cy="699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0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The Principle</a:t>
            </a:r>
          </a:p>
          <a:p>
            <a:pPr algn="l">
              <a:lnSpc>
                <a:spcPts val="3779"/>
              </a:lnSpc>
            </a:pPr>
            <a:r>
              <a:rPr lang="en-US" sz="2700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Method of Undetermined Coefficients is a straightforward technique to derive numerical formulas (for differentiation, integration, etc.) by forcing them to be exact for polynomials up to a certain degree.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spc="-140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The Core Idea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Assume the numerical approximation is a linear combination of function values at known points (nodes).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coefficients            in this linear combination are the "undetermined coefficients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We determine these coefficients by ensuring the formula holds true for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209471" y="6192653"/>
            <a:ext cx="1094051" cy="740139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29933" y="6994727"/>
            <a:ext cx="6255716" cy="1663496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0">
            <a:off x="14393651" y="6827520"/>
            <a:ext cx="3894349" cy="3459480"/>
          </a:xfrm>
          <a:custGeom>
            <a:avLst/>
            <a:gdLst/>
            <a:ahLst/>
            <a:cxnLst/>
            <a:rect r="r" b="b" t="t" l="l"/>
            <a:pathLst>
              <a:path h="3459480" w="3894349">
                <a:moveTo>
                  <a:pt x="0" y="0"/>
                </a:moveTo>
                <a:lnTo>
                  <a:pt x="3894349" y="0"/>
                </a:lnTo>
                <a:lnTo>
                  <a:pt x="3894349" y="3459480"/>
                </a:lnTo>
                <a:lnTo>
                  <a:pt x="0" y="3459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4835" y="1133475"/>
            <a:ext cx="17538329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5000" spc="580">
                <a:solidFill>
                  <a:srgbClr val="FFF8E3"/>
                </a:solidFill>
                <a:latin typeface="Lilita One"/>
                <a:ea typeface="Lilita One"/>
                <a:cs typeface="Lilita One"/>
                <a:sym typeface="Lilita One"/>
              </a:rPr>
              <a:t>GOAL: DERIVE FORMULAS WITH MINIMAL ERROR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603272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9"/>
                </a:lnTo>
                <a:lnTo>
                  <a:pt x="0" y="23102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271634" y="-2913921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5"/>
                </a:lnTo>
                <a:lnTo>
                  <a:pt x="0" y="5796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71899" y="3348192"/>
            <a:ext cx="13681703" cy="6938808"/>
            <a:chOff x="0" y="0"/>
            <a:chExt cx="4072428" cy="20653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72428" cy="2065371"/>
            </a:xfrm>
            <a:custGeom>
              <a:avLst/>
              <a:gdLst/>
              <a:ahLst/>
              <a:cxnLst/>
              <a:rect r="r" b="b" t="t" l="l"/>
              <a:pathLst>
                <a:path h="2065371" w="4072428">
                  <a:moveTo>
                    <a:pt x="28859" y="0"/>
                  </a:moveTo>
                  <a:lnTo>
                    <a:pt x="4043569" y="0"/>
                  </a:lnTo>
                  <a:cubicBezTo>
                    <a:pt x="4059508" y="0"/>
                    <a:pt x="4072428" y="12921"/>
                    <a:pt x="4072428" y="28859"/>
                  </a:cubicBezTo>
                  <a:lnTo>
                    <a:pt x="4072428" y="2036512"/>
                  </a:lnTo>
                  <a:cubicBezTo>
                    <a:pt x="4072428" y="2044166"/>
                    <a:pt x="4069388" y="2051507"/>
                    <a:pt x="4063976" y="2056919"/>
                  </a:cubicBezTo>
                  <a:cubicBezTo>
                    <a:pt x="4058564" y="2062331"/>
                    <a:pt x="4051223" y="2065371"/>
                    <a:pt x="4043569" y="2065371"/>
                  </a:cubicBezTo>
                  <a:lnTo>
                    <a:pt x="28859" y="2065371"/>
                  </a:lnTo>
                  <a:cubicBezTo>
                    <a:pt x="21205" y="2065371"/>
                    <a:pt x="13865" y="2062331"/>
                    <a:pt x="8453" y="2056919"/>
                  </a:cubicBezTo>
                  <a:cubicBezTo>
                    <a:pt x="3040" y="2051507"/>
                    <a:pt x="0" y="2044166"/>
                    <a:pt x="0" y="2036512"/>
                  </a:cubicBezTo>
                  <a:lnTo>
                    <a:pt x="0" y="28859"/>
                  </a:lnTo>
                  <a:cubicBezTo>
                    <a:pt x="0" y="21205"/>
                    <a:pt x="3040" y="13865"/>
                    <a:pt x="8453" y="8453"/>
                  </a:cubicBezTo>
                  <a:cubicBezTo>
                    <a:pt x="13865" y="3040"/>
                    <a:pt x="21205" y="0"/>
                    <a:pt x="2885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072428" cy="2112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364951" y="5707736"/>
            <a:ext cx="3894349" cy="3459480"/>
          </a:xfrm>
          <a:custGeom>
            <a:avLst/>
            <a:gdLst/>
            <a:ahLst/>
            <a:cxnLst/>
            <a:rect r="r" b="b" t="t" l="l"/>
            <a:pathLst>
              <a:path h="3459480" w="3894349">
                <a:moveTo>
                  <a:pt x="0" y="0"/>
                </a:moveTo>
                <a:lnTo>
                  <a:pt x="3894349" y="0"/>
                </a:lnTo>
                <a:lnTo>
                  <a:pt x="3894349" y="3459480"/>
                </a:lnTo>
                <a:lnTo>
                  <a:pt x="0" y="34594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994592" y="4274709"/>
            <a:ext cx="9794141" cy="212814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986023" y="5941550"/>
            <a:ext cx="15685401" cy="62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8"/>
              </a:lnSpc>
              <a:spcBef>
                <a:spcPct val="0"/>
              </a:spcBef>
            </a:pPr>
            <a:r>
              <a:rPr lang="en-US" sz="3620" spc="-14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2. </a:t>
            </a:r>
            <a:r>
              <a:rPr lang="en-US" sz="3620" spc="-14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coefficient must be CONSTANT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86023" y="6922496"/>
            <a:ext cx="15685401" cy="62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8"/>
              </a:lnSpc>
              <a:spcBef>
                <a:spcPct val="0"/>
              </a:spcBef>
            </a:pPr>
            <a:r>
              <a:rPr lang="en-US" sz="3620" spc="-14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3. </a:t>
            </a:r>
            <a:r>
              <a:rPr lang="en-US" sz="3620" spc="-14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form R(x) must be “standard”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447199" y="7548563"/>
            <a:ext cx="8303876" cy="2570020"/>
          </a:xfrm>
          <a:custGeom>
            <a:avLst/>
            <a:gdLst/>
            <a:ahLst/>
            <a:cxnLst/>
            <a:rect r="r" b="b" t="t" l="l"/>
            <a:pathLst>
              <a:path h="2570020" w="8303876">
                <a:moveTo>
                  <a:pt x="0" y="0"/>
                </a:moveTo>
                <a:lnTo>
                  <a:pt x="8303876" y="0"/>
                </a:lnTo>
                <a:lnTo>
                  <a:pt x="8303876" y="2570020"/>
                </a:lnTo>
                <a:lnTo>
                  <a:pt x="0" y="25700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7917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78961" y="3477192"/>
            <a:ext cx="15685401" cy="62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1694" indent="-390847" lvl="1">
              <a:lnSpc>
                <a:spcPts val="5068"/>
              </a:lnSpc>
              <a:spcBef>
                <a:spcPct val="0"/>
              </a:spcBef>
              <a:buAutoNum type="arabicPeriod" startAt="1"/>
            </a:pPr>
            <a:r>
              <a:rPr lang="en-US" sz="3620" spc="-14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equation must be LINEAR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4835" y="1504535"/>
            <a:ext cx="17538329" cy="124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5000" spc="580">
                <a:solidFill>
                  <a:srgbClr val="FFF8E3"/>
                </a:solidFill>
                <a:latin typeface="Lilita One"/>
                <a:ea typeface="Lilita One"/>
                <a:cs typeface="Lilita One"/>
                <a:sym typeface="Lilita One"/>
              </a:rPr>
              <a:t>MAIN REQUIREMENTS OF THE UNCERTAIN COEFFICIENT METHOD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7199" y="4350395"/>
            <a:ext cx="15685401" cy="43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  <a:spcBef>
                <a:spcPct val="0"/>
              </a:spcBef>
            </a:pPr>
            <a:r>
              <a:rPr lang="en-US" sz="2514" spc="-9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Only valid for: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603272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9"/>
                </a:lnTo>
                <a:lnTo>
                  <a:pt x="0" y="23102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271634" y="-2913921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5"/>
                </a:lnTo>
                <a:lnTo>
                  <a:pt x="0" y="5796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6596" y="4733921"/>
            <a:ext cx="16405556" cy="4344692"/>
            <a:chOff x="0" y="0"/>
            <a:chExt cx="4911167" cy="13006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11167" cy="1300627"/>
            </a:xfrm>
            <a:custGeom>
              <a:avLst/>
              <a:gdLst/>
              <a:ahLst/>
              <a:cxnLst/>
              <a:rect r="r" b="b" t="t" l="l"/>
              <a:pathLst>
                <a:path h="1300627" w="4911167">
                  <a:moveTo>
                    <a:pt x="24067" y="0"/>
                  </a:moveTo>
                  <a:lnTo>
                    <a:pt x="4887100" y="0"/>
                  </a:lnTo>
                  <a:cubicBezTo>
                    <a:pt x="4893483" y="0"/>
                    <a:pt x="4899604" y="2536"/>
                    <a:pt x="4904118" y="7049"/>
                  </a:cubicBezTo>
                  <a:cubicBezTo>
                    <a:pt x="4908631" y="11563"/>
                    <a:pt x="4911167" y="17684"/>
                    <a:pt x="4911167" y="24067"/>
                  </a:cubicBezTo>
                  <a:lnTo>
                    <a:pt x="4911167" y="1276560"/>
                  </a:lnTo>
                  <a:cubicBezTo>
                    <a:pt x="4911167" y="1282943"/>
                    <a:pt x="4908631" y="1289064"/>
                    <a:pt x="4904118" y="1293578"/>
                  </a:cubicBezTo>
                  <a:cubicBezTo>
                    <a:pt x="4899604" y="1298091"/>
                    <a:pt x="4893483" y="1300627"/>
                    <a:pt x="4887100" y="1300627"/>
                  </a:cubicBezTo>
                  <a:lnTo>
                    <a:pt x="24067" y="1300627"/>
                  </a:lnTo>
                  <a:cubicBezTo>
                    <a:pt x="10775" y="1300627"/>
                    <a:pt x="0" y="1289852"/>
                    <a:pt x="0" y="1276560"/>
                  </a:cubicBezTo>
                  <a:lnTo>
                    <a:pt x="0" y="24067"/>
                  </a:lnTo>
                  <a:cubicBezTo>
                    <a:pt x="0" y="17684"/>
                    <a:pt x="2536" y="11563"/>
                    <a:pt x="7049" y="7049"/>
                  </a:cubicBezTo>
                  <a:cubicBezTo>
                    <a:pt x="11563" y="2536"/>
                    <a:pt x="17684" y="0"/>
                    <a:pt x="2406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911167" cy="1348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069246" y="1780482"/>
            <a:ext cx="9507599" cy="2466214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78000" y="5473180"/>
            <a:ext cx="6100206" cy="1910037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true" flipV="false" rot="-1513060">
            <a:off x="5715275" y="7427228"/>
            <a:ext cx="1943261" cy="568785"/>
          </a:xfrm>
          <a:custGeom>
            <a:avLst/>
            <a:gdLst/>
            <a:ahLst/>
            <a:cxnLst/>
            <a:rect r="r" b="b" t="t" l="l"/>
            <a:pathLst>
              <a:path h="568785" w="1943261">
                <a:moveTo>
                  <a:pt x="1943261" y="0"/>
                </a:moveTo>
                <a:lnTo>
                  <a:pt x="0" y="0"/>
                </a:lnTo>
                <a:lnTo>
                  <a:pt x="0" y="568786"/>
                </a:lnTo>
                <a:lnTo>
                  <a:pt x="1943261" y="568786"/>
                </a:lnTo>
                <a:lnTo>
                  <a:pt x="194326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-5272161">
            <a:off x="10905634" y="6553482"/>
            <a:ext cx="1147469" cy="1235045"/>
          </a:xfrm>
          <a:custGeom>
            <a:avLst/>
            <a:gdLst/>
            <a:ahLst/>
            <a:cxnLst/>
            <a:rect r="r" b="b" t="t" l="l"/>
            <a:pathLst>
              <a:path h="1235045" w="1147469">
                <a:moveTo>
                  <a:pt x="1147469" y="1235045"/>
                </a:moveTo>
                <a:lnTo>
                  <a:pt x="0" y="1235045"/>
                </a:lnTo>
                <a:lnTo>
                  <a:pt x="0" y="0"/>
                </a:lnTo>
                <a:lnTo>
                  <a:pt x="1147469" y="0"/>
                </a:lnTo>
                <a:lnTo>
                  <a:pt x="1147469" y="123504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573340" y="5796984"/>
            <a:ext cx="6109526" cy="1243377"/>
            <a:chOff x="0" y="0"/>
            <a:chExt cx="1257104" cy="2558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7104" cy="255839"/>
            </a:xfrm>
            <a:custGeom>
              <a:avLst/>
              <a:gdLst/>
              <a:ahLst/>
              <a:cxnLst/>
              <a:rect r="r" b="b" t="t" l="l"/>
              <a:pathLst>
                <a:path h="255839" w="1257104">
                  <a:moveTo>
                    <a:pt x="24750" y="0"/>
                  </a:moveTo>
                  <a:lnTo>
                    <a:pt x="1232354" y="0"/>
                  </a:lnTo>
                  <a:cubicBezTo>
                    <a:pt x="1246023" y="0"/>
                    <a:pt x="1257104" y="11081"/>
                    <a:pt x="1257104" y="24750"/>
                  </a:cubicBezTo>
                  <a:lnTo>
                    <a:pt x="1257104" y="231089"/>
                  </a:lnTo>
                  <a:cubicBezTo>
                    <a:pt x="1257104" y="237653"/>
                    <a:pt x="1254496" y="243948"/>
                    <a:pt x="1249855" y="248590"/>
                  </a:cubicBezTo>
                  <a:cubicBezTo>
                    <a:pt x="1245214" y="253231"/>
                    <a:pt x="1238918" y="255839"/>
                    <a:pt x="1232354" y="255839"/>
                  </a:cubicBezTo>
                  <a:lnTo>
                    <a:pt x="24750" y="255839"/>
                  </a:lnTo>
                  <a:cubicBezTo>
                    <a:pt x="18186" y="255839"/>
                    <a:pt x="11891" y="253231"/>
                    <a:pt x="7249" y="248590"/>
                  </a:cubicBezTo>
                  <a:cubicBezTo>
                    <a:pt x="2608" y="243948"/>
                    <a:pt x="0" y="237653"/>
                    <a:pt x="0" y="231089"/>
                  </a:cubicBezTo>
                  <a:lnTo>
                    <a:pt x="0" y="24750"/>
                  </a:lnTo>
                  <a:cubicBezTo>
                    <a:pt x="0" y="18186"/>
                    <a:pt x="2608" y="11891"/>
                    <a:pt x="7249" y="7249"/>
                  </a:cubicBezTo>
                  <a:cubicBezTo>
                    <a:pt x="11891" y="2608"/>
                    <a:pt x="18186" y="0"/>
                    <a:pt x="247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rnd">
              <a:solidFill>
                <a:srgbClr val="FFF8E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57104" cy="303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589266" y="6906267"/>
            <a:ext cx="4698734" cy="2971949"/>
          </a:xfrm>
          <a:custGeom>
            <a:avLst/>
            <a:gdLst/>
            <a:ahLst/>
            <a:cxnLst/>
            <a:rect r="r" b="b" t="t" l="l"/>
            <a:pathLst>
              <a:path h="2971949" w="4698734">
                <a:moveTo>
                  <a:pt x="0" y="0"/>
                </a:moveTo>
                <a:lnTo>
                  <a:pt x="4698734" y="0"/>
                </a:lnTo>
                <a:lnTo>
                  <a:pt x="4698734" y="2971950"/>
                </a:lnTo>
                <a:lnTo>
                  <a:pt x="0" y="2971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74835" y="1050408"/>
            <a:ext cx="17538329" cy="124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5000" spc="580">
                <a:solidFill>
                  <a:srgbClr val="FFF8E3"/>
                </a:solidFill>
                <a:latin typeface="Lilita One"/>
                <a:ea typeface="Lilita One"/>
                <a:cs typeface="Lilita One"/>
                <a:sym typeface="Lilita One"/>
              </a:rPr>
              <a:t>THE GENERAL EQUATION AND SOLUTION STRUCTURE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3561" y="3825871"/>
            <a:ext cx="896629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-9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Where </a:t>
            </a:r>
            <a:r>
              <a:rPr lang="en-US" b="true" sz="2499" spc="-9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R(x)</a:t>
            </a:r>
            <a:r>
              <a:rPr lang="en-US" sz="2499" spc="-9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is the non-homogeneous function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5033788"/>
            <a:ext cx="11047160" cy="46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sz="3599" spc="417">
                <a:solidFill>
                  <a:srgbClr val="FFF8E3"/>
                </a:solidFill>
                <a:latin typeface="Lilita One"/>
                <a:ea typeface="Lilita One"/>
                <a:cs typeface="Lilita One"/>
                <a:sym typeface="Lilita One"/>
              </a:rPr>
              <a:t>GENERAL SOLUTION STRUCTURE (Y):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249911"/>
            <a:ext cx="4824885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general solution is the sum of the homogeneous solution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05352" y="8024476"/>
            <a:ext cx="482488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particular solution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3477025" y="-7140335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271634" y="-2913921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5"/>
                </a:lnTo>
                <a:lnTo>
                  <a:pt x="0" y="5796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628011"/>
            <a:ext cx="7266745" cy="7116233"/>
            <a:chOff x="0" y="0"/>
            <a:chExt cx="2175373" cy="21303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5373" cy="2130315"/>
            </a:xfrm>
            <a:custGeom>
              <a:avLst/>
              <a:gdLst/>
              <a:ahLst/>
              <a:cxnLst/>
              <a:rect r="r" b="b" t="t" l="l"/>
              <a:pathLst>
                <a:path h="2130315" w="2175373">
                  <a:moveTo>
                    <a:pt x="54335" y="0"/>
                  </a:moveTo>
                  <a:lnTo>
                    <a:pt x="2121038" y="0"/>
                  </a:lnTo>
                  <a:cubicBezTo>
                    <a:pt x="2151046" y="0"/>
                    <a:pt x="2175373" y="24327"/>
                    <a:pt x="2175373" y="54335"/>
                  </a:cubicBezTo>
                  <a:lnTo>
                    <a:pt x="2175373" y="2075980"/>
                  </a:lnTo>
                  <a:cubicBezTo>
                    <a:pt x="2175373" y="2090391"/>
                    <a:pt x="2169648" y="2104211"/>
                    <a:pt x="2159458" y="2114401"/>
                  </a:cubicBezTo>
                  <a:cubicBezTo>
                    <a:pt x="2149269" y="2124591"/>
                    <a:pt x="2135448" y="2130315"/>
                    <a:pt x="2121038" y="2130315"/>
                  </a:cubicBezTo>
                  <a:lnTo>
                    <a:pt x="54335" y="2130315"/>
                  </a:lnTo>
                  <a:cubicBezTo>
                    <a:pt x="24327" y="2130315"/>
                    <a:pt x="0" y="2105989"/>
                    <a:pt x="0" y="2075980"/>
                  </a:cubicBezTo>
                  <a:lnTo>
                    <a:pt x="0" y="54335"/>
                  </a:lnTo>
                  <a:cubicBezTo>
                    <a:pt x="0" y="24327"/>
                    <a:pt x="24327" y="0"/>
                    <a:pt x="5433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75373" cy="2177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1628011"/>
            <a:ext cx="8483458" cy="2239348"/>
            <a:chOff x="0" y="0"/>
            <a:chExt cx="2539608" cy="6703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39608" cy="670371"/>
            </a:xfrm>
            <a:custGeom>
              <a:avLst/>
              <a:gdLst/>
              <a:ahLst/>
              <a:cxnLst/>
              <a:rect r="r" b="b" t="t" l="l"/>
              <a:pathLst>
                <a:path h="670371" w="2539608">
                  <a:moveTo>
                    <a:pt x="46542" y="0"/>
                  </a:moveTo>
                  <a:lnTo>
                    <a:pt x="2493066" y="0"/>
                  </a:lnTo>
                  <a:cubicBezTo>
                    <a:pt x="2505410" y="0"/>
                    <a:pt x="2517248" y="4904"/>
                    <a:pt x="2525976" y="13632"/>
                  </a:cubicBezTo>
                  <a:cubicBezTo>
                    <a:pt x="2534704" y="22360"/>
                    <a:pt x="2539608" y="34198"/>
                    <a:pt x="2539608" y="46542"/>
                  </a:cubicBezTo>
                  <a:lnTo>
                    <a:pt x="2539608" y="623829"/>
                  </a:lnTo>
                  <a:cubicBezTo>
                    <a:pt x="2539608" y="636173"/>
                    <a:pt x="2534704" y="648011"/>
                    <a:pt x="2525976" y="656739"/>
                  </a:cubicBezTo>
                  <a:cubicBezTo>
                    <a:pt x="2517248" y="665468"/>
                    <a:pt x="2505410" y="670371"/>
                    <a:pt x="2493066" y="670371"/>
                  </a:cubicBezTo>
                  <a:lnTo>
                    <a:pt x="46542" y="670371"/>
                  </a:lnTo>
                  <a:cubicBezTo>
                    <a:pt x="34198" y="670371"/>
                    <a:pt x="22360" y="665468"/>
                    <a:pt x="13632" y="656739"/>
                  </a:cubicBezTo>
                  <a:cubicBezTo>
                    <a:pt x="4904" y="648011"/>
                    <a:pt x="0" y="636173"/>
                    <a:pt x="0" y="623829"/>
                  </a:cubicBezTo>
                  <a:lnTo>
                    <a:pt x="0" y="46542"/>
                  </a:lnTo>
                  <a:cubicBezTo>
                    <a:pt x="0" y="34198"/>
                    <a:pt x="4904" y="22360"/>
                    <a:pt x="13632" y="13632"/>
                  </a:cubicBezTo>
                  <a:cubicBezTo>
                    <a:pt x="22360" y="4904"/>
                    <a:pt x="34198" y="0"/>
                    <a:pt x="4654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539608" cy="717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8050" y="4262202"/>
            <a:ext cx="5561705" cy="1482011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8050" y="5833731"/>
            <a:ext cx="5561705" cy="1484935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02577" y="7307352"/>
            <a:ext cx="7372476" cy="1640030"/>
          </a:xfrm>
          <a:prstGeom prst="rect">
            <a:avLst/>
          </a:prstGeom>
        </p:spPr>
      </p:pic>
      <p:sp>
        <p:nvSpPr>
          <p:cNvPr name="Freeform 13" id="13"/>
          <p:cNvSpPr/>
          <p:nvPr/>
        </p:nvSpPr>
        <p:spPr>
          <a:xfrm flipH="false" flipV="false" rot="0">
            <a:off x="9383448" y="4175934"/>
            <a:ext cx="3762083" cy="4393364"/>
          </a:xfrm>
          <a:custGeom>
            <a:avLst/>
            <a:gdLst/>
            <a:ahLst/>
            <a:cxnLst/>
            <a:rect r="r" b="b" t="t" l="l"/>
            <a:pathLst>
              <a:path h="4393364" w="3762083">
                <a:moveTo>
                  <a:pt x="0" y="0"/>
                </a:moveTo>
                <a:lnTo>
                  <a:pt x="3762083" y="0"/>
                </a:lnTo>
                <a:lnTo>
                  <a:pt x="3762083" y="4393364"/>
                </a:lnTo>
                <a:lnTo>
                  <a:pt x="0" y="43933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200398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45531" y="4175934"/>
            <a:ext cx="4186401" cy="4393364"/>
          </a:xfrm>
          <a:custGeom>
            <a:avLst/>
            <a:gdLst/>
            <a:ahLst/>
            <a:cxnLst/>
            <a:rect r="r" b="b" t="t" l="l"/>
            <a:pathLst>
              <a:path h="4393364" w="4186401">
                <a:moveTo>
                  <a:pt x="0" y="0"/>
                </a:moveTo>
                <a:lnTo>
                  <a:pt x="4186401" y="0"/>
                </a:lnTo>
                <a:lnTo>
                  <a:pt x="4186401" y="4393364"/>
                </a:lnTo>
                <a:lnTo>
                  <a:pt x="0" y="43933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58267" t="0" r="-11683" b="0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13145531" y="5054592"/>
            <a:ext cx="0" cy="3514706"/>
          </a:xfrm>
          <a:prstGeom prst="line">
            <a:avLst/>
          </a:prstGeom>
          <a:ln cap="flat" w="85725">
            <a:solidFill>
              <a:srgbClr val="00508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20292" y="8475884"/>
            <a:ext cx="2001233" cy="1811116"/>
          </a:xfrm>
          <a:custGeom>
            <a:avLst/>
            <a:gdLst/>
            <a:ahLst/>
            <a:cxnLst/>
            <a:rect r="r" b="b" t="t" l="l"/>
            <a:pathLst>
              <a:path h="1811116" w="2001233">
                <a:moveTo>
                  <a:pt x="0" y="0"/>
                </a:moveTo>
                <a:lnTo>
                  <a:pt x="2001233" y="0"/>
                </a:lnTo>
                <a:lnTo>
                  <a:pt x="2001233" y="1811116"/>
                </a:lnTo>
                <a:lnTo>
                  <a:pt x="0" y="18111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9129" y="558036"/>
            <a:ext cx="17538329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5000" spc="580">
                <a:solidFill>
                  <a:srgbClr val="FFF8E3"/>
                </a:solidFill>
                <a:latin typeface="Lilita One"/>
                <a:ea typeface="Lilita One"/>
                <a:cs typeface="Lilita One"/>
                <a:sym typeface="Lilita One"/>
              </a:rPr>
              <a:t>STEP PROCESS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97690" y="1893385"/>
            <a:ext cx="669775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Step 1: Finding the Homogeneous Solution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63603" y="8855048"/>
            <a:ext cx="896385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-9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*The coefficients A, B, C, etc. are the undetermined constants that must be found by substituting back into the original DE.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86340" y="1893385"/>
            <a:ext cx="7118382" cy="5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Step 2: Guessing the Particular Solution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13707" y="2675781"/>
            <a:ext cx="7745593" cy="93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The form of </a:t>
            </a:r>
            <a:r>
              <a:rPr lang="en-US" b="true" sz="2699" spc="-10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yp</a:t>
            </a:r>
            <a:r>
              <a:rPr lang="en-US" sz="2699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is based on the form of </a:t>
            </a:r>
            <a:r>
              <a:rPr lang="en-US" b="true" sz="2699" spc="-10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R(x)</a:t>
            </a:r>
            <a:r>
              <a:rPr lang="en-US" sz="2699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. Use this table as a guide: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2926" y="4128309"/>
            <a:ext cx="669775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0" indent="-291465" lvl="1">
              <a:lnSpc>
                <a:spcPts val="3779"/>
              </a:lnSpc>
              <a:spcBef>
                <a:spcPct val="0"/>
              </a:spcBef>
              <a:buAutoNum type="arabicPeriod" startAt="1"/>
            </a:pPr>
            <a:r>
              <a:rPr lang="en-US" sz="2700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Distinct Real Roots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67220" y="5651411"/>
            <a:ext cx="669775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700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2. </a:t>
            </a:r>
            <a:r>
              <a:rPr lang="en-US" sz="2700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Repeated Real Roots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67220" y="7275930"/>
            <a:ext cx="669775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700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3. Complex Roots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2926" y="3253914"/>
            <a:ext cx="669775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700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We solve the Characteristic Equation (PK):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3477025" y="-7140335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166876" y="-2739986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4"/>
                </a:lnTo>
                <a:lnTo>
                  <a:pt x="0" y="57963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877221" y="1412075"/>
            <a:ext cx="7950859" cy="2211564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22392" y="3050060"/>
            <a:ext cx="4875696" cy="1362591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24488" y="4329868"/>
            <a:ext cx="973571" cy="699325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6232" y="4798480"/>
            <a:ext cx="4469620" cy="1268487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72682" y="5683348"/>
            <a:ext cx="4477183" cy="1213376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86380" y="6469025"/>
            <a:ext cx="4312814" cy="1166751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79388" y="8297039"/>
            <a:ext cx="5561705" cy="1482011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355231" y="3169855"/>
            <a:ext cx="3438156" cy="1076522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466783" y="3658502"/>
            <a:ext cx="2320279" cy="927727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488161" y="4248380"/>
            <a:ext cx="2528170" cy="991696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273040" y="4862236"/>
            <a:ext cx="2806012" cy="957667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852253" y="5774129"/>
            <a:ext cx="6595522" cy="1537246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780559" y="6382966"/>
            <a:ext cx="5634779" cy="1417445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399676" y="7256111"/>
            <a:ext cx="2725606" cy="841114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046226" y="7878292"/>
            <a:ext cx="1730386" cy="58763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520631" y="8687391"/>
            <a:ext cx="1554701" cy="951665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981453" y="9104555"/>
            <a:ext cx="704024" cy="581433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293176" y="788138"/>
            <a:ext cx="10018768" cy="111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4"/>
              </a:lnSpc>
            </a:pPr>
            <a:r>
              <a:rPr lang="en-US" sz="84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EXAMPLE 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077659" y="5229771"/>
            <a:ext cx="3614993" cy="1131891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574556" y="6025079"/>
            <a:ext cx="5982559" cy="1584971"/>
          </a:xfrm>
          <a:prstGeom prst="rect">
            <a:avLst/>
          </a:prstGeom>
        </p:spPr>
      </p:pic>
      <p:sp>
        <p:nvSpPr>
          <p:cNvPr name="Freeform 24" id="24"/>
          <p:cNvSpPr/>
          <p:nvPr/>
        </p:nvSpPr>
        <p:spPr>
          <a:xfrm flipH="false" flipV="false" rot="0">
            <a:off x="10474518" y="8537014"/>
            <a:ext cx="1646926" cy="1442572"/>
          </a:xfrm>
          <a:custGeom>
            <a:avLst/>
            <a:gdLst/>
            <a:ahLst/>
            <a:cxnLst/>
            <a:rect r="r" b="b" t="t" l="l"/>
            <a:pathLst>
              <a:path h="1442572" w="1646926">
                <a:moveTo>
                  <a:pt x="0" y="0"/>
                </a:moveTo>
                <a:lnTo>
                  <a:pt x="1646926" y="0"/>
                </a:lnTo>
                <a:lnTo>
                  <a:pt x="1646926" y="1442572"/>
                </a:lnTo>
                <a:lnTo>
                  <a:pt x="0" y="144257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-6186" r="0" b="-3204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726406">
            <a:off x="9606507" y="500617"/>
            <a:ext cx="1013481" cy="1368670"/>
          </a:xfrm>
          <a:custGeom>
            <a:avLst/>
            <a:gdLst/>
            <a:ahLst/>
            <a:cxnLst/>
            <a:rect r="r" b="b" t="t" l="l"/>
            <a:pathLst>
              <a:path h="1368670" w="1013481">
                <a:moveTo>
                  <a:pt x="0" y="0"/>
                </a:moveTo>
                <a:lnTo>
                  <a:pt x="1013481" y="0"/>
                </a:lnTo>
                <a:lnTo>
                  <a:pt x="1013481" y="1368670"/>
                </a:lnTo>
                <a:lnTo>
                  <a:pt x="0" y="136867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12311944" y="3773316"/>
            <a:ext cx="600239" cy="6002390"/>
          </a:xfrm>
          <a:custGeom>
            <a:avLst/>
            <a:gdLst/>
            <a:ahLst/>
            <a:cxnLst/>
            <a:rect r="r" b="b" t="t" l="l"/>
            <a:pathLst>
              <a:path h="6002390" w="600239">
                <a:moveTo>
                  <a:pt x="600239" y="0"/>
                </a:moveTo>
                <a:lnTo>
                  <a:pt x="0" y="0"/>
                </a:lnTo>
                <a:lnTo>
                  <a:pt x="0" y="6002390"/>
                </a:lnTo>
                <a:lnTo>
                  <a:pt x="600239" y="6002390"/>
                </a:lnTo>
                <a:lnTo>
                  <a:pt x="600239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9177840">
            <a:off x="12132437" y="-1891383"/>
            <a:ext cx="6866798" cy="6480540"/>
          </a:xfrm>
          <a:custGeom>
            <a:avLst/>
            <a:gdLst/>
            <a:ahLst/>
            <a:cxnLst/>
            <a:rect r="r" b="b" t="t" l="l"/>
            <a:pathLst>
              <a:path h="6480540" w="6866798">
                <a:moveTo>
                  <a:pt x="0" y="0"/>
                </a:moveTo>
                <a:lnTo>
                  <a:pt x="6866797" y="0"/>
                </a:lnTo>
                <a:lnTo>
                  <a:pt x="6866797" y="6480541"/>
                </a:lnTo>
                <a:lnTo>
                  <a:pt x="0" y="648054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5107632">
            <a:off x="2312530" y="7596193"/>
            <a:ext cx="1157022" cy="679899"/>
          </a:xfrm>
          <a:custGeom>
            <a:avLst/>
            <a:gdLst/>
            <a:ahLst/>
            <a:cxnLst/>
            <a:rect r="r" b="b" t="t" l="l"/>
            <a:pathLst>
              <a:path h="679899" w="1157022">
                <a:moveTo>
                  <a:pt x="0" y="0"/>
                </a:moveTo>
                <a:lnTo>
                  <a:pt x="1157023" y="0"/>
                </a:lnTo>
                <a:lnTo>
                  <a:pt x="1157023" y="679898"/>
                </a:lnTo>
                <a:lnTo>
                  <a:pt x="0" y="679898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-246817" t="-7308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28700" y="4492768"/>
            <a:ext cx="112112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Finding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7804" y="5605117"/>
            <a:ext cx="387694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spc="-10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⇒ Substitution: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603272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9"/>
                </a:lnTo>
                <a:lnTo>
                  <a:pt x="0" y="23102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3122323" y="6714746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3" y="0"/>
                </a:lnTo>
                <a:lnTo>
                  <a:pt x="13217413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69452" y="-2898152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4"/>
                </a:lnTo>
                <a:lnTo>
                  <a:pt x="0" y="5796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427498">
            <a:off x="13486772" y="-59862"/>
            <a:ext cx="5267908" cy="2177124"/>
          </a:xfrm>
          <a:custGeom>
            <a:avLst/>
            <a:gdLst/>
            <a:ahLst/>
            <a:cxnLst/>
            <a:rect r="r" b="b" t="t" l="l"/>
            <a:pathLst>
              <a:path h="2177124" w="5267908">
                <a:moveTo>
                  <a:pt x="0" y="0"/>
                </a:moveTo>
                <a:lnTo>
                  <a:pt x="5267909" y="0"/>
                </a:lnTo>
                <a:lnTo>
                  <a:pt x="5267909" y="2177124"/>
                </a:lnTo>
                <a:lnTo>
                  <a:pt x="0" y="21771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399107">
            <a:off x="2772388" y="4322438"/>
            <a:ext cx="1212462" cy="798846"/>
          </a:xfrm>
          <a:custGeom>
            <a:avLst/>
            <a:gdLst/>
            <a:ahLst/>
            <a:cxnLst/>
            <a:rect r="r" b="b" t="t" l="l"/>
            <a:pathLst>
              <a:path h="798846" w="1212462">
                <a:moveTo>
                  <a:pt x="0" y="0"/>
                </a:moveTo>
                <a:lnTo>
                  <a:pt x="1212462" y="0"/>
                </a:lnTo>
                <a:lnTo>
                  <a:pt x="1212462" y="798847"/>
                </a:lnTo>
                <a:lnTo>
                  <a:pt x="0" y="7988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-628310">
            <a:off x="15044689" y="4916555"/>
            <a:ext cx="453890" cy="45389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5377A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05104" y="1848245"/>
            <a:ext cx="8692893" cy="7635534"/>
          </a:xfrm>
          <a:custGeom>
            <a:avLst/>
            <a:gdLst/>
            <a:ahLst/>
            <a:cxnLst/>
            <a:rect r="r" b="b" t="t" l="l"/>
            <a:pathLst>
              <a:path h="7635534" w="8692893">
                <a:moveTo>
                  <a:pt x="0" y="0"/>
                </a:moveTo>
                <a:lnTo>
                  <a:pt x="8692893" y="0"/>
                </a:lnTo>
                <a:lnTo>
                  <a:pt x="8692893" y="7635534"/>
                </a:lnTo>
                <a:lnTo>
                  <a:pt x="0" y="76355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284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927268" y="4282610"/>
            <a:ext cx="7565401" cy="1721781"/>
          </a:xfrm>
          <a:custGeom>
            <a:avLst/>
            <a:gdLst/>
            <a:ahLst/>
            <a:cxnLst/>
            <a:rect r="r" b="b" t="t" l="l"/>
            <a:pathLst>
              <a:path h="1721781" w="7565401">
                <a:moveTo>
                  <a:pt x="0" y="0"/>
                </a:moveTo>
                <a:lnTo>
                  <a:pt x="7565401" y="0"/>
                </a:lnTo>
                <a:lnTo>
                  <a:pt x="7565401" y="1721780"/>
                </a:lnTo>
                <a:lnTo>
                  <a:pt x="0" y="17217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93586" y="6768031"/>
            <a:ext cx="4842870" cy="3206384"/>
          </a:xfrm>
          <a:custGeom>
            <a:avLst/>
            <a:gdLst/>
            <a:ahLst/>
            <a:cxnLst/>
            <a:rect r="r" b="b" t="t" l="l"/>
            <a:pathLst>
              <a:path h="3206384" w="4842870">
                <a:moveTo>
                  <a:pt x="0" y="0"/>
                </a:moveTo>
                <a:lnTo>
                  <a:pt x="4842871" y="0"/>
                </a:lnTo>
                <a:lnTo>
                  <a:pt x="4842871" y="3206384"/>
                </a:lnTo>
                <a:lnTo>
                  <a:pt x="0" y="320638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13913" y="556895"/>
            <a:ext cx="10018768" cy="111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4"/>
              </a:lnSpc>
            </a:pPr>
            <a:r>
              <a:rPr lang="en-US" sz="84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EXAMPLE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23296" y="3756195"/>
            <a:ext cx="10018768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9"/>
              </a:lnSpc>
            </a:pPr>
            <a:r>
              <a:rPr lang="en-US" sz="3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RESULT: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407834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9045325" y="2828624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96776" y="-2764600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4"/>
                </a:lnTo>
                <a:lnTo>
                  <a:pt x="0" y="5796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54489" y="369283"/>
            <a:ext cx="15271949" cy="59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5"/>
              </a:lnSpc>
            </a:pPr>
            <a:r>
              <a:rPr lang="en-US" sz="4500">
                <a:solidFill>
                  <a:srgbClr val="004AAD"/>
                </a:solidFill>
                <a:latin typeface="Lilita One"/>
                <a:ea typeface="Lilita One"/>
                <a:cs typeface="Lilita One"/>
                <a:sym typeface="Lilita One"/>
              </a:rPr>
              <a:t>COMPOSITE INT</a:t>
            </a:r>
            <a:r>
              <a:rPr lang="en-US" sz="4500">
                <a:solidFill>
                  <a:srgbClr val="004AAD"/>
                </a:solidFill>
                <a:latin typeface="Lilita One"/>
                <a:ea typeface="Lilita One"/>
                <a:cs typeface="Lilita One"/>
                <a:sym typeface="Lilita One"/>
              </a:rPr>
              <a:t>EGRATION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65252"/>
            <a:ext cx="10244323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15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im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le 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nte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g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ra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 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fo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mul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as 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(lik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 t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h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 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ra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z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oi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d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ule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)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h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v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 a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error ter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li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ke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10607530">
            <a:off x="15267301" y="-1822255"/>
            <a:ext cx="5515974" cy="5879430"/>
          </a:xfrm>
          <a:custGeom>
            <a:avLst/>
            <a:gdLst/>
            <a:ahLst/>
            <a:cxnLst/>
            <a:rect r="r" b="b" t="t" l="l"/>
            <a:pathLst>
              <a:path h="5879430" w="5515974">
                <a:moveTo>
                  <a:pt x="5515974" y="0"/>
                </a:moveTo>
                <a:lnTo>
                  <a:pt x="0" y="0"/>
                </a:lnTo>
                <a:lnTo>
                  <a:pt x="0" y="5879430"/>
                </a:lnTo>
                <a:lnTo>
                  <a:pt x="5515974" y="5879430"/>
                </a:lnTo>
                <a:lnTo>
                  <a:pt x="55159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624773">
            <a:off x="12734482" y="187037"/>
            <a:ext cx="2121895" cy="876938"/>
          </a:xfrm>
          <a:custGeom>
            <a:avLst/>
            <a:gdLst/>
            <a:ahLst/>
            <a:cxnLst/>
            <a:rect r="r" b="b" t="t" l="l"/>
            <a:pathLst>
              <a:path h="876938" w="2121895">
                <a:moveTo>
                  <a:pt x="0" y="0"/>
                </a:moveTo>
                <a:lnTo>
                  <a:pt x="2121895" y="0"/>
                </a:lnTo>
                <a:lnTo>
                  <a:pt x="2121895" y="876938"/>
                </a:lnTo>
                <a:lnTo>
                  <a:pt x="0" y="8769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830348">
            <a:off x="8058443" y="9133445"/>
            <a:ext cx="1212462" cy="798846"/>
          </a:xfrm>
          <a:custGeom>
            <a:avLst/>
            <a:gdLst/>
            <a:ahLst/>
            <a:cxnLst/>
            <a:rect r="r" b="b" t="t" l="l"/>
            <a:pathLst>
              <a:path h="798846" w="1212462">
                <a:moveTo>
                  <a:pt x="0" y="0"/>
                </a:moveTo>
                <a:lnTo>
                  <a:pt x="1212462" y="0"/>
                </a:lnTo>
                <a:lnTo>
                  <a:pt x="1212462" y="798846"/>
                </a:lnTo>
                <a:lnTo>
                  <a:pt x="0" y="7988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2950394">
            <a:off x="3266220" y="762789"/>
            <a:ext cx="3160935" cy="821843"/>
          </a:xfrm>
          <a:custGeom>
            <a:avLst/>
            <a:gdLst/>
            <a:ahLst/>
            <a:cxnLst/>
            <a:rect r="r" b="b" t="t" l="l"/>
            <a:pathLst>
              <a:path h="821843" w="3160935">
                <a:moveTo>
                  <a:pt x="3160935" y="0"/>
                </a:moveTo>
                <a:lnTo>
                  <a:pt x="0" y="0"/>
                </a:lnTo>
                <a:lnTo>
                  <a:pt x="0" y="821843"/>
                </a:lnTo>
                <a:lnTo>
                  <a:pt x="3160935" y="821843"/>
                </a:lnTo>
                <a:lnTo>
                  <a:pt x="3160935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6615">
            <a:off x="11155045" y="5217514"/>
            <a:ext cx="7444587" cy="6616377"/>
          </a:xfrm>
          <a:custGeom>
            <a:avLst/>
            <a:gdLst/>
            <a:ahLst/>
            <a:cxnLst/>
            <a:rect r="r" b="b" t="t" l="l"/>
            <a:pathLst>
              <a:path h="6616377" w="7444587">
                <a:moveTo>
                  <a:pt x="0" y="0"/>
                </a:moveTo>
                <a:lnTo>
                  <a:pt x="7444587" y="0"/>
                </a:lnTo>
                <a:lnTo>
                  <a:pt x="7444587" y="6616377"/>
                </a:lnTo>
                <a:lnTo>
                  <a:pt x="0" y="661637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28106" y="1327010"/>
            <a:ext cx="6520572" cy="13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4689" y="4914180"/>
            <a:ext cx="10244323" cy="209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-15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is seems great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, but 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it's m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is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ading. The </a:t>
            </a:r>
            <a:r>
              <a:rPr lang="en-US" b="true" sz="3999" spc="-155" strike="noStrike" u="none">
                <a:solidFill>
                  <a:srgbClr val="5AA1FF"/>
                </a:solidFill>
                <a:latin typeface="Now Bold"/>
                <a:ea typeface="Now Bold"/>
                <a:cs typeface="Now Bold"/>
                <a:sym typeface="Now Bold"/>
              </a:rPr>
              <a:t>quantity being ap</a:t>
            </a:r>
            <a:r>
              <a:rPr lang="en-US" b="true" sz="3999" spc="-155" strike="noStrike" u="none">
                <a:solidFill>
                  <a:srgbClr val="5AA1FF"/>
                </a:solidFill>
                <a:latin typeface="Now Bold"/>
                <a:ea typeface="Now Bold"/>
                <a:cs typeface="Now Bold"/>
                <a:sym typeface="Now Bold"/>
              </a:rPr>
              <a:t>pr</a:t>
            </a:r>
            <a:r>
              <a:rPr lang="en-US" b="true" sz="3999" spc="-155" strike="noStrike" u="none">
                <a:solidFill>
                  <a:srgbClr val="5AA1FF"/>
                </a:solidFill>
                <a:latin typeface="Now Bold"/>
                <a:ea typeface="Now Bold"/>
                <a:cs typeface="Now Bold"/>
                <a:sym typeface="Now Bold"/>
              </a:rPr>
              <a:t>oximated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al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so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depen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ds</a:t>
            </a:r>
            <a:r>
              <a:rPr lang="en-US" b="true" sz="3999" spc="-155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on :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769080" y="3425094"/>
            <a:ext cx="4559198" cy="1594568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07336" y="6914624"/>
            <a:ext cx="6526728" cy="34002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407834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9045325" y="2828624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50492">
            <a:off x="9276625" y="2563903"/>
            <a:ext cx="9037608" cy="9513272"/>
          </a:xfrm>
          <a:custGeom>
            <a:avLst/>
            <a:gdLst/>
            <a:ahLst/>
            <a:cxnLst/>
            <a:rect r="r" b="b" t="t" l="l"/>
            <a:pathLst>
              <a:path h="9513272" w="9037608">
                <a:moveTo>
                  <a:pt x="0" y="0"/>
                </a:moveTo>
                <a:lnTo>
                  <a:pt x="9037609" y="0"/>
                </a:lnTo>
                <a:lnTo>
                  <a:pt x="9037609" y="9513272"/>
                </a:lnTo>
                <a:lnTo>
                  <a:pt x="0" y="95132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85788" y="1051526"/>
            <a:ext cx="15271949" cy="13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COMPOSITE INT</a:t>
            </a: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EGRATION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10607530">
            <a:off x="15267301" y="-1822255"/>
            <a:ext cx="5515974" cy="5879430"/>
          </a:xfrm>
          <a:custGeom>
            <a:avLst/>
            <a:gdLst/>
            <a:ahLst/>
            <a:cxnLst/>
            <a:rect r="r" b="b" t="t" l="l"/>
            <a:pathLst>
              <a:path h="5879430" w="5515974">
                <a:moveTo>
                  <a:pt x="5515974" y="0"/>
                </a:moveTo>
                <a:lnTo>
                  <a:pt x="0" y="0"/>
                </a:lnTo>
                <a:lnTo>
                  <a:pt x="0" y="5879430"/>
                </a:lnTo>
                <a:lnTo>
                  <a:pt x="5515974" y="5879430"/>
                </a:lnTo>
                <a:lnTo>
                  <a:pt x="551597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624773">
            <a:off x="12734482" y="187037"/>
            <a:ext cx="2121895" cy="876938"/>
          </a:xfrm>
          <a:custGeom>
            <a:avLst/>
            <a:gdLst/>
            <a:ahLst/>
            <a:cxnLst/>
            <a:rect r="r" b="b" t="t" l="l"/>
            <a:pathLst>
              <a:path h="876938" w="2121895">
                <a:moveTo>
                  <a:pt x="0" y="0"/>
                </a:moveTo>
                <a:lnTo>
                  <a:pt x="2121895" y="0"/>
                </a:lnTo>
                <a:lnTo>
                  <a:pt x="2121895" y="876938"/>
                </a:lnTo>
                <a:lnTo>
                  <a:pt x="0" y="8769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830348">
            <a:off x="8215531" y="8880851"/>
            <a:ext cx="1212462" cy="798846"/>
          </a:xfrm>
          <a:custGeom>
            <a:avLst/>
            <a:gdLst/>
            <a:ahLst/>
            <a:cxnLst/>
            <a:rect r="r" b="b" t="t" l="l"/>
            <a:pathLst>
              <a:path h="798846" w="1212462">
                <a:moveTo>
                  <a:pt x="0" y="0"/>
                </a:moveTo>
                <a:lnTo>
                  <a:pt x="1212463" y="0"/>
                </a:lnTo>
                <a:lnTo>
                  <a:pt x="1212463" y="798847"/>
                </a:lnTo>
                <a:lnTo>
                  <a:pt x="0" y="7988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true" flipV="false" rot="-9083651">
            <a:off x="2045524" y="270465"/>
            <a:ext cx="3160935" cy="821843"/>
          </a:xfrm>
          <a:custGeom>
            <a:avLst/>
            <a:gdLst/>
            <a:ahLst/>
            <a:cxnLst/>
            <a:rect r="r" b="b" t="t" l="l"/>
            <a:pathLst>
              <a:path h="821843" w="3160935">
                <a:moveTo>
                  <a:pt x="3160935" y="0"/>
                </a:moveTo>
                <a:lnTo>
                  <a:pt x="0" y="0"/>
                </a:lnTo>
                <a:lnTo>
                  <a:pt x="0" y="821843"/>
                </a:lnTo>
                <a:lnTo>
                  <a:pt x="3160935" y="821843"/>
                </a:lnTo>
                <a:lnTo>
                  <a:pt x="3160935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36175" y="3714853"/>
            <a:ext cx="4994192" cy="2354700"/>
            <a:chOff x="0" y="0"/>
            <a:chExt cx="1495061" cy="704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5061" cy="704903"/>
            </a:xfrm>
            <a:custGeom>
              <a:avLst/>
              <a:gdLst/>
              <a:ahLst/>
              <a:cxnLst/>
              <a:rect r="r" b="b" t="t" l="l"/>
              <a:pathLst>
                <a:path h="704903" w="1495061">
                  <a:moveTo>
                    <a:pt x="79059" y="0"/>
                  </a:moveTo>
                  <a:lnTo>
                    <a:pt x="1416002" y="0"/>
                  </a:lnTo>
                  <a:cubicBezTo>
                    <a:pt x="1436970" y="0"/>
                    <a:pt x="1457079" y="8329"/>
                    <a:pt x="1471905" y="23156"/>
                  </a:cubicBezTo>
                  <a:cubicBezTo>
                    <a:pt x="1486732" y="37982"/>
                    <a:pt x="1495061" y="58092"/>
                    <a:pt x="1495061" y="79059"/>
                  </a:cubicBezTo>
                  <a:lnTo>
                    <a:pt x="1495061" y="625843"/>
                  </a:lnTo>
                  <a:cubicBezTo>
                    <a:pt x="1495061" y="646811"/>
                    <a:pt x="1486732" y="666920"/>
                    <a:pt x="1471905" y="681747"/>
                  </a:cubicBezTo>
                  <a:cubicBezTo>
                    <a:pt x="1457079" y="696573"/>
                    <a:pt x="1436970" y="704903"/>
                    <a:pt x="1416002" y="704903"/>
                  </a:cubicBezTo>
                  <a:lnTo>
                    <a:pt x="79059" y="704903"/>
                  </a:lnTo>
                  <a:cubicBezTo>
                    <a:pt x="58092" y="704903"/>
                    <a:pt x="37982" y="696573"/>
                    <a:pt x="23156" y="681747"/>
                  </a:cubicBezTo>
                  <a:cubicBezTo>
                    <a:pt x="8329" y="666920"/>
                    <a:pt x="0" y="646811"/>
                    <a:pt x="0" y="625843"/>
                  </a:cubicBezTo>
                  <a:lnTo>
                    <a:pt x="0" y="79059"/>
                  </a:lnTo>
                  <a:cubicBezTo>
                    <a:pt x="0" y="58092"/>
                    <a:pt x="8329" y="37982"/>
                    <a:pt x="23156" y="23156"/>
                  </a:cubicBezTo>
                  <a:cubicBezTo>
                    <a:pt x="37982" y="8329"/>
                    <a:pt x="58092" y="0"/>
                    <a:pt x="7905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95061" cy="752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4610" y="3315300"/>
            <a:ext cx="4137321" cy="799105"/>
            <a:chOff x="0" y="0"/>
            <a:chExt cx="1238548" cy="2392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8549" cy="239220"/>
            </a:xfrm>
            <a:custGeom>
              <a:avLst/>
              <a:gdLst/>
              <a:ahLst/>
              <a:cxnLst/>
              <a:rect r="r" b="b" t="t" l="l"/>
              <a:pathLst>
                <a:path h="239220" w="1238549">
                  <a:moveTo>
                    <a:pt x="95433" y="0"/>
                  </a:moveTo>
                  <a:lnTo>
                    <a:pt x="1143115" y="0"/>
                  </a:lnTo>
                  <a:cubicBezTo>
                    <a:pt x="1195822" y="0"/>
                    <a:pt x="1238549" y="42727"/>
                    <a:pt x="1238549" y="95433"/>
                  </a:cubicBezTo>
                  <a:lnTo>
                    <a:pt x="1238549" y="143787"/>
                  </a:lnTo>
                  <a:cubicBezTo>
                    <a:pt x="1238549" y="196493"/>
                    <a:pt x="1195822" y="239220"/>
                    <a:pt x="1143115" y="239220"/>
                  </a:cubicBezTo>
                  <a:lnTo>
                    <a:pt x="95433" y="239220"/>
                  </a:lnTo>
                  <a:cubicBezTo>
                    <a:pt x="42727" y="239220"/>
                    <a:pt x="0" y="196493"/>
                    <a:pt x="0" y="143787"/>
                  </a:cubicBezTo>
                  <a:lnTo>
                    <a:pt x="0" y="95433"/>
                  </a:lnTo>
                  <a:cubicBezTo>
                    <a:pt x="0" y="42727"/>
                    <a:pt x="42727" y="0"/>
                    <a:pt x="95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238548" cy="305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62"/>
                </a:lnSpc>
              </a:pPr>
              <a:r>
                <a:rPr lang="en-US" sz="2687">
                  <a:solidFill>
                    <a:srgbClr val="1D2062"/>
                  </a:solidFill>
                  <a:latin typeface="Lilita One"/>
                  <a:ea typeface="Lilita One"/>
                  <a:cs typeface="Lilita One"/>
                  <a:sym typeface="Lilita One"/>
                </a:rPr>
                <a:t>DECOMPOSE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4337188"/>
            <a:ext cx="4391117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10"/>
              </a:lnSpc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D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v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d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 t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h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 l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rge inte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rv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 </a:t>
            </a:r>
            <a:r>
              <a:rPr lang="en-US" b="true" sz="3000" spc="-117" strike="noStrike" u="none">
                <a:solidFill>
                  <a:srgbClr val="004AAD"/>
                </a:solidFill>
                <a:latin typeface="Now Bold"/>
                <a:ea typeface="Now Bold"/>
                <a:cs typeface="Now Bold"/>
                <a:sym typeface="Now Bold"/>
              </a:rPr>
              <a:t>[a, b]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into </a:t>
            </a:r>
            <a:r>
              <a:rPr lang="en-US" b="true" sz="3000" spc="-117" strike="noStrike" u="none">
                <a:solidFill>
                  <a:srgbClr val="004AAD"/>
                </a:solidFill>
                <a:latin typeface="Now Bold"/>
                <a:ea typeface="Now Bold"/>
                <a:cs typeface="Now Bold"/>
                <a:sym typeface="Now Bold"/>
              </a:rPr>
              <a:t>n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smaller, equal subintervals.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324666" y="5543053"/>
            <a:ext cx="4994192" cy="2354700"/>
            <a:chOff x="0" y="0"/>
            <a:chExt cx="1495061" cy="7049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5061" cy="704903"/>
            </a:xfrm>
            <a:custGeom>
              <a:avLst/>
              <a:gdLst/>
              <a:ahLst/>
              <a:cxnLst/>
              <a:rect r="r" b="b" t="t" l="l"/>
              <a:pathLst>
                <a:path h="704903" w="1495061">
                  <a:moveTo>
                    <a:pt x="79059" y="0"/>
                  </a:moveTo>
                  <a:lnTo>
                    <a:pt x="1416002" y="0"/>
                  </a:lnTo>
                  <a:cubicBezTo>
                    <a:pt x="1436970" y="0"/>
                    <a:pt x="1457079" y="8329"/>
                    <a:pt x="1471905" y="23156"/>
                  </a:cubicBezTo>
                  <a:cubicBezTo>
                    <a:pt x="1486732" y="37982"/>
                    <a:pt x="1495061" y="58092"/>
                    <a:pt x="1495061" y="79059"/>
                  </a:cubicBezTo>
                  <a:lnTo>
                    <a:pt x="1495061" y="625843"/>
                  </a:lnTo>
                  <a:cubicBezTo>
                    <a:pt x="1495061" y="646811"/>
                    <a:pt x="1486732" y="666920"/>
                    <a:pt x="1471905" y="681747"/>
                  </a:cubicBezTo>
                  <a:cubicBezTo>
                    <a:pt x="1457079" y="696573"/>
                    <a:pt x="1436970" y="704903"/>
                    <a:pt x="1416002" y="704903"/>
                  </a:cubicBezTo>
                  <a:lnTo>
                    <a:pt x="79059" y="704903"/>
                  </a:lnTo>
                  <a:cubicBezTo>
                    <a:pt x="58092" y="704903"/>
                    <a:pt x="37982" y="696573"/>
                    <a:pt x="23156" y="681747"/>
                  </a:cubicBezTo>
                  <a:cubicBezTo>
                    <a:pt x="8329" y="666920"/>
                    <a:pt x="0" y="646811"/>
                    <a:pt x="0" y="625843"/>
                  </a:cubicBezTo>
                  <a:lnTo>
                    <a:pt x="0" y="79059"/>
                  </a:lnTo>
                  <a:cubicBezTo>
                    <a:pt x="0" y="58092"/>
                    <a:pt x="8329" y="37982"/>
                    <a:pt x="23156" y="23156"/>
                  </a:cubicBezTo>
                  <a:cubicBezTo>
                    <a:pt x="37982" y="8329"/>
                    <a:pt x="58092" y="0"/>
                    <a:pt x="7905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495061" cy="752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53102" y="5143500"/>
            <a:ext cx="4137321" cy="799105"/>
            <a:chOff x="0" y="0"/>
            <a:chExt cx="1238548" cy="2392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38549" cy="239220"/>
            </a:xfrm>
            <a:custGeom>
              <a:avLst/>
              <a:gdLst/>
              <a:ahLst/>
              <a:cxnLst/>
              <a:rect r="r" b="b" t="t" l="l"/>
              <a:pathLst>
                <a:path h="239220" w="1238549">
                  <a:moveTo>
                    <a:pt x="95433" y="0"/>
                  </a:moveTo>
                  <a:lnTo>
                    <a:pt x="1143115" y="0"/>
                  </a:lnTo>
                  <a:cubicBezTo>
                    <a:pt x="1195822" y="0"/>
                    <a:pt x="1238549" y="42727"/>
                    <a:pt x="1238549" y="95433"/>
                  </a:cubicBezTo>
                  <a:lnTo>
                    <a:pt x="1238549" y="143787"/>
                  </a:lnTo>
                  <a:cubicBezTo>
                    <a:pt x="1238549" y="196493"/>
                    <a:pt x="1195822" y="239220"/>
                    <a:pt x="1143115" y="239220"/>
                  </a:cubicBezTo>
                  <a:lnTo>
                    <a:pt x="95433" y="239220"/>
                  </a:lnTo>
                  <a:cubicBezTo>
                    <a:pt x="42727" y="239220"/>
                    <a:pt x="0" y="196493"/>
                    <a:pt x="0" y="143787"/>
                  </a:cubicBezTo>
                  <a:lnTo>
                    <a:pt x="0" y="95433"/>
                  </a:lnTo>
                  <a:cubicBezTo>
                    <a:pt x="0" y="42727"/>
                    <a:pt x="42727" y="0"/>
                    <a:pt x="95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238548" cy="305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62"/>
                </a:lnSpc>
              </a:pPr>
              <a:r>
                <a:rPr lang="en-US" sz="2687">
                  <a:solidFill>
                    <a:srgbClr val="1D2062"/>
                  </a:solidFill>
                  <a:latin typeface="Lilita One"/>
                  <a:ea typeface="Lilita One"/>
                  <a:cs typeface="Lilita One"/>
                  <a:sym typeface="Lilita One"/>
                </a:rPr>
                <a:t>APPLY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528106" y="6121623"/>
            <a:ext cx="4474524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10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Ap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pl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y a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sim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pl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 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nte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g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ra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 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rul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 to </a:t>
            </a:r>
            <a:r>
              <a:rPr lang="en-US" b="true" sz="2600" spc="-101" strike="noStrike" u="none">
                <a:solidFill>
                  <a:srgbClr val="FFBE5C"/>
                </a:solidFill>
                <a:latin typeface="Now Bold"/>
                <a:ea typeface="Now Bold"/>
                <a:cs typeface="Now Bold"/>
                <a:sym typeface="Now Bold"/>
              </a:rPr>
              <a:t>eac</a:t>
            </a:r>
            <a:r>
              <a:rPr lang="en-US" b="true" sz="2600" spc="-101" strike="noStrike" u="none">
                <a:solidFill>
                  <a:srgbClr val="FFBE5C"/>
                </a:solidFill>
                <a:latin typeface="Now Bold"/>
                <a:ea typeface="Now Bold"/>
                <a:cs typeface="Now Bold"/>
                <a:sym typeface="Now Bold"/>
              </a:rPr>
              <a:t>h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s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ma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ll 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su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bin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val</a:t>
            </a:r>
            <a:r>
              <a:rPr lang="en-US" b="true" sz="2600" spc="-101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36175" y="7145380"/>
            <a:ext cx="4994192" cy="2354700"/>
            <a:chOff x="0" y="0"/>
            <a:chExt cx="1495061" cy="704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95061" cy="704903"/>
            </a:xfrm>
            <a:custGeom>
              <a:avLst/>
              <a:gdLst/>
              <a:ahLst/>
              <a:cxnLst/>
              <a:rect r="r" b="b" t="t" l="l"/>
              <a:pathLst>
                <a:path h="704903" w="1495061">
                  <a:moveTo>
                    <a:pt x="79059" y="0"/>
                  </a:moveTo>
                  <a:lnTo>
                    <a:pt x="1416002" y="0"/>
                  </a:lnTo>
                  <a:cubicBezTo>
                    <a:pt x="1436970" y="0"/>
                    <a:pt x="1457079" y="8329"/>
                    <a:pt x="1471905" y="23156"/>
                  </a:cubicBezTo>
                  <a:cubicBezTo>
                    <a:pt x="1486732" y="37982"/>
                    <a:pt x="1495061" y="58092"/>
                    <a:pt x="1495061" y="79059"/>
                  </a:cubicBezTo>
                  <a:lnTo>
                    <a:pt x="1495061" y="625843"/>
                  </a:lnTo>
                  <a:cubicBezTo>
                    <a:pt x="1495061" y="646811"/>
                    <a:pt x="1486732" y="666920"/>
                    <a:pt x="1471905" y="681747"/>
                  </a:cubicBezTo>
                  <a:cubicBezTo>
                    <a:pt x="1457079" y="696573"/>
                    <a:pt x="1436970" y="704903"/>
                    <a:pt x="1416002" y="704903"/>
                  </a:cubicBezTo>
                  <a:lnTo>
                    <a:pt x="79059" y="704903"/>
                  </a:lnTo>
                  <a:cubicBezTo>
                    <a:pt x="58092" y="704903"/>
                    <a:pt x="37982" y="696573"/>
                    <a:pt x="23156" y="681747"/>
                  </a:cubicBezTo>
                  <a:cubicBezTo>
                    <a:pt x="8329" y="666920"/>
                    <a:pt x="0" y="646811"/>
                    <a:pt x="0" y="625843"/>
                  </a:cubicBezTo>
                  <a:lnTo>
                    <a:pt x="0" y="79059"/>
                  </a:lnTo>
                  <a:cubicBezTo>
                    <a:pt x="0" y="58092"/>
                    <a:pt x="8329" y="37982"/>
                    <a:pt x="23156" y="23156"/>
                  </a:cubicBezTo>
                  <a:cubicBezTo>
                    <a:pt x="37982" y="8329"/>
                    <a:pt x="58092" y="0"/>
                    <a:pt x="7905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495061" cy="752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4610" y="6745828"/>
            <a:ext cx="4137321" cy="799105"/>
            <a:chOff x="0" y="0"/>
            <a:chExt cx="1238548" cy="2392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38549" cy="239220"/>
            </a:xfrm>
            <a:custGeom>
              <a:avLst/>
              <a:gdLst/>
              <a:ahLst/>
              <a:cxnLst/>
              <a:rect r="r" b="b" t="t" l="l"/>
              <a:pathLst>
                <a:path h="239220" w="1238549">
                  <a:moveTo>
                    <a:pt x="95433" y="0"/>
                  </a:moveTo>
                  <a:lnTo>
                    <a:pt x="1143115" y="0"/>
                  </a:lnTo>
                  <a:cubicBezTo>
                    <a:pt x="1195822" y="0"/>
                    <a:pt x="1238549" y="42727"/>
                    <a:pt x="1238549" y="95433"/>
                  </a:cubicBezTo>
                  <a:lnTo>
                    <a:pt x="1238549" y="143787"/>
                  </a:lnTo>
                  <a:cubicBezTo>
                    <a:pt x="1238549" y="196493"/>
                    <a:pt x="1195822" y="239220"/>
                    <a:pt x="1143115" y="239220"/>
                  </a:cubicBezTo>
                  <a:lnTo>
                    <a:pt x="95433" y="239220"/>
                  </a:lnTo>
                  <a:cubicBezTo>
                    <a:pt x="42727" y="239220"/>
                    <a:pt x="0" y="196493"/>
                    <a:pt x="0" y="143787"/>
                  </a:cubicBezTo>
                  <a:lnTo>
                    <a:pt x="0" y="95433"/>
                  </a:lnTo>
                  <a:cubicBezTo>
                    <a:pt x="0" y="42727"/>
                    <a:pt x="42727" y="0"/>
                    <a:pt x="95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1238548" cy="305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62"/>
                </a:lnSpc>
              </a:pPr>
              <a:r>
                <a:rPr lang="en-US" sz="2687">
                  <a:solidFill>
                    <a:srgbClr val="1D2062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SUM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37712" y="7766245"/>
            <a:ext cx="4391117" cy="150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2"/>
              </a:lnSpc>
              <a:spcBef>
                <a:spcPct val="0"/>
              </a:spcBef>
            </a:pPr>
            <a:r>
              <a:rPr lang="en-US" b="true" sz="2123" spc="-82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um t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he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sul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fr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a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ll 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ub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er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v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 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to 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get t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he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f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ina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 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app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oxim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tio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 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 th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 t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ta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 in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eg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</a:t>
            </a:r>
            <a:r>
              <a:rPr lang="en-US" b="true" sz="2123" spc="-82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al                     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63650" y="4592923"/>
            <a:ext cx="1044662" cy="618582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206074" y="4739732"/>
            <a:ext cx="385355" cy="307841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53697" y="5005974"/>
            <a:ext cx="5759147" cy="1310966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925641" y="8743156"/>
            <a:ext cx="1267351" cy="7655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407834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-2319720" y="3989699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3149" y="-1737077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4"/>
                </a:lnTo>
                <a:lnTo>
                  <a:pt x="0" y="5796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628310">
            <a:off x="7653779" y="1382752"/>
            <a:ext cx="453890" cy="4538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1D206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523221" y="-848820"/>
            <a:ext cx="6227555" cy="2366471"/>
          </a:xfrm>
          <a:custGeom>
            <a:avLst/>
            <a:gdLst/>
            <a:ahLst/>
            <a:cxnLst/>
            <a:rect r="r" b="b" t="t" l="l"/>
            <a:pathLst>
              <a:path h="2366471" w="6227555">
                <a:moveTo>
                  <a:pt x="0" y="0"/>
                </a:moveTo>
                <a:lnTo>
                  <a:pt x="6227554" y="0"/>
                </a:lnTo>
                <a:lnTo>
                  <a:pt x="6227554" y="2366471"/>
                </a:lnTo>
                <a:lnTo>
                  <a:pt x="0" y="23664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749113">
            <a:off x="-736987" y="3783450"/>
            <a:ext cx="11329257" cy="7505633"/>
          </a:xfrm>
          <a:custGeom>
            <a:avLst/>
            <a:gdLst/>
            <a:ahLst/>
            <a:cxnLst/>
            <a:rect r="r" b="b" t="t" l="l"/>
            <a:pathLst>
              <a:path h="7505633" w="11329257">
                <a:moveTo>
                  <a:pt x="11329257" y="0"/>
                </a:moveTo>
                <a:lnTo>
                  <a:pt x="0" y="0"/>
                </a:lnTo>
                <a:lnTo>
                  <a:pt x="0" y="7505632"/>
                </a:lnTo>
                <a:lnTo>
                  <a:pt x="11329257" y="7505632"/>
                </a:lnTo>
                <a:lnTo>
                  <a:pt x="11329257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880724" y="5143500"/>
            <a:ext cx="9824095" cy="4790651"/>
            <a:chOff x="0" y="0"/>
            <a:chExt cx="2587416" cy="12617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7416" cy="1261735"/>
            </a:xfrm>
            <a:custGeom>
              <a:avLst/>
              <a:gdLst/>
              <a:ahLst/>
              <a:cxnLst/>
              <a:rect r="r" b="b" t="t" l="l"/>
              <a:pathLst>
                <a:path h="1261735" w="2587416">
                  <a:moveTo>
                    <a:pt x="40191" y="0"/>
                  </a:moveTo>
                  <a:lnTo>
                    <a:pt x="2547225" y="0"/>
                  </a:lnTo>
                  <a:cubicBezTo>
                    <a:pt x="2557884" y="0"/>
                    <a:pt x="2568107" y="4234"/>
                    <a:pt x="2575644" y="11772"/>
                  </a:cubicBezTo>
                  <a:cubicBezTo>
                    <a:pt x="2583181" y="19309"/>
                    <a:pt x="2587416" y="29532"/>
                    <a:pt x="2587416" y="40191"/>
                  </a:cubicBezTo>
                  <a:lnTo>
                    <a:pt x="2587416" y="1221544"/>
                  </a:lnTo>
                  <a:cubicBezTo>
                    <a:pt x="2587416" y="1232204"/>
                    <a:pt x="2583181" y="1242426"/>
                    <a:pt x="2575644" y="1249964"/>
                  </a:cubicBezTo>
                  <a:cubicBezTo>
                    <a:pt x="2568107" y="1257501"/>
                    <a:pt x="2557884" y="1261735"/>
                    <a:pt x="2547225" y="1261735"/>
                  </a:cubicBezTo>
                  <a:lnTo>
                    <a:pt x="40191" y="1261735"/>
                  </a:lnTo>
                  <a:cubicBezTo>
                    <a:pt x="29532" y="1261735"/>
                    <a:pt x="19309" y="1257501"/>
                    <a:pt x="11772" y="1249964"/>
                  </a:cubicBezTo>
                  <a:cubicBezTo>
                    <a:pt x="4234" y="1242426"/>
                    <a:pt x="0" y="1232204"/>
                    <a:pt x="0" y="1221544"/>
                  </a:cubicBezTo>
                  <a:lnTo>
                    <a:pt x="0" y="40191"/>
                  </a:lnTo>
                  <a:cubicBezTo>
                    <a:pt x="0" y="29532"/>
                    <a:pt x="4234" y="19309"/>
                    <a:pt x="11772" y="11772"/>
                  </a:cubicBezTo>
                  <a:cubicBezTo>
                    <a:pt x="19309" y="4234"/>
                    <a:pt x="29532" y="0"/>
                    <a:pt x="40191" y="0"/>
                  </a:cubicBezTo>
                  <a:close/>
                </a:path>
              </a:pathLst>
            </a:custGeom>
            <a:solidFill>
              <a:srgbClr val="1D206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87416" cy="1309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1730" y="1238250"/>
            <a:ext cx="15004540" cy="253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9"/>
              </a:lnSpc>
            </a:pP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</a:t>
            </a: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OMPOSITE TRAPEZOIDAL RULE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58340" y="3778249"/>
            <a:ext cx="15571320" cy="816809"/>
            <a:chOff x="0" y="0"/>
            <a:chExt cx="4101088" cy="2151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01088" cy="215127"/>
            </a:xfrm>
            <a:custGeom>
              <a:avLst/>
              <a:gdLst/>
              <a:ahLst/>
              <a:cxnLst/>
              <a:rect r="r" b="b" t="t" l="l"/>
              <a:pathLst>
                <a:path h="215127" w="4101088">
                  <a:moveTo>
                    <a:pt x="25357" y="0"/>
                  </a:moveTo>
                  <a:lnTo>
                    <a:pt x="4075732" y="0"/>
                  </a:lnTo>
                  <a:cubicBezTo>
                    <a:pt x="4089736" y="0"/>
                    <a:pt x="4101088" y="11353"/>
                    <a:pt x="4101088" y="25357"/>
                  </a:cubicBezTo>
                  <a:lnTo>
                    <a:pt x="4101088" y="189770"/>
                  </a:lnTo>
                  <a:cubicBezTo>
                    <a:pt x="4101088" y="203774"/>
                    <a:pt x="4089736" y="215127"/>
                    <a:pt x="4075732" y="215127"/>
                  </a:cubicBezTo>
                  <a:lnTo>
                    <a:pt x="25357" y="215127"/>
                  </a:lnTo>
                  <a:cubicBezTo>
                    <a:pt x="11353" y="215127"/>
                    <a:pt x="0" y="203774"/>
                    <a:pt x="0" y="189770"/>
                  </a:cubicBezTo>
                  <a:lnTo>
                    <a:pt x="0" y="25357"/>
                  </a:lnTo>
                  <a:cubicBezTo>
                    <a:pt x="0" y="11353"/>
                    <a:pt x="11353" y="0"/>
                    <a:pt x="25357" y="0"/>
                  </a:cubicBezTo>
                  <a:close/>
                </a:path>
              </a:pathLst>
            </a:custGeom>
            <a:solidFill>
              <a:srgbClr val="1D20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101088" cy="262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56030" y="3914926"/>
            <a:ext cx="1510934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Su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ng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the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sim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pl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 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rul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 is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ine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ffic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ie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t. 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W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 c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 s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mpli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fy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it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by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com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b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ning t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er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ms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614360" y="4594439"/>
            <a:ext cx="8356822" cy="2686337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009465" y="8570089"/>
            <a:ext cx="3064375" cy="1376421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481899" y="6817787"/>
            <a:ext cx="8621744" cy="2545058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8992522" y="8953500"/>
            <a:ext cx="192903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where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53941" y="8953500"/>
            <a:ext cx="114896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and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604729" y="8854376"/>
            <a:ext cx="2490865" cy="807848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1269624" y="6717724"/>
            <a:ext cx="304629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simplified to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407834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-5580006" y="6383791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537821">
            <a:off x="907819" y="1061518"/>
            <a:ext cx="3458282" cy="1673000"/>
          </a:xfrm>
          <a:custGeom>
            <a:avLst/>
            <a:gdLst/>
            <a:ahLst/>
            <a:cxnLst/>
            <a:rect r="r" b="b" t="t" l="l"/>
            <a:pathLst>
              <a:path h="1673000" w="3458282">
                <a:moveTo>
                  <a:pt x="0" y="0"/>
                </a:moveTo>
                <a:lnTo>
                  <a:pt x="3458281" y="0"/>
                </a:lnTo>
                <a:lnTo>
                  <a:pt x="3458281" y="1673000"/>
                </a:lnTo>
                <a:lnTo>
                  <a:pt x="0" y="1673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008093">
            <a:off x="8123318" y="4341117"/>
            <a:ext cx="1212462" cy="798846"/>
          </a:xfrm>
          <a:custGeom>
            <a:avLst/>
            <a:gdLst/>
            <a:ahLst/>
            <a:cxnLst/>
            <a:rect r="r" b="b" t="t" l="l"/>
            <a:pathLst>
              <a:path h="798846" w="1212462">
                <a:moveTo>
                  <a:pt x="0" y="0"/>
                </a:moveTo>
                <a:lnTo>
                  <a:pt x="1212462" y="0"/>
                </a:lnTo>
                <a:lnTo>
                  <a:pt x="1212462" y="798846"/>
                </a:lnTo>
                <a:lnTo>
                  <a:pt x="0" y="7988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false" rot="9465714">
            <a:off x="14174713" y="-1547476"/>
            <a:ext cx="4833842" cy="5152351"/>
          </a:xfrm>
          <a:custGeom>
            <a:avLst/>
            <a:gdLst/>
            <a:ahLst/>
            <a:cxnLst/>
            <a:rect r="r" b="b" t="t" l="l"/>
            <a:pathLst>
              <a:path h="5152351" w="4833842">
                <a:moveTo>
                  <a:pt x="4833842" y="0"/>
                </a:moveTo>
                <a:lnTo>
                  <a:pt x="0" y="0"/>
                </a:lnTo>
                <a:lnTo>
                  <a:pt x="0" y="5152352"/>
                </a:lnTo>
                <a:lnTo>
                  <a:pt x="4833842" y="5152352"/>
                </a:lnTo>
                <a:lnTo>
                  <a:pt x="48338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36507" y="5077802"/>
            <a:ext cx="3645066" cy="1239427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848924" y="5228006"/>
            <a:ext cx="2890918" cy="1186393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759942" y="6222482"/>
            <a:ext cx="1430010" cy="629736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6294383" y="7256049"/>
            <a:ext cx="5099345" cy="3531296"/>
          </a:xfrm>
          <a:custGeom>
            <a:avLst/>
            <a:gdLst/>
            <a:ahLst/>
            <a:cxnLst/>
            <a:rect r="r" b="b" t="t" l="l"/>
            <a:pathLst>
              <a:path h="3531296" w="5099345">
                <a:moveTo>
                  <a:pt x="0" y="0"/>
                </a:moveTo>
                <a:lnTo>
                  <a:pt x="5099345" y="0"/>
                </a:lnTo>
                <a:lnTo>
                  <a:pt x="5099345" y="3531296"/>
                </a:lnTo>
                <a:lnTo>
                  <a:pt x="0" y="353129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204883" y="6796910"/>
            <a:ext cx="2080672" cy="1115316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7216" y="8191500"/>
            <a:ext cx="664211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This is misleading, as       was the entire interval.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28312" y="8227495"/>
            <a:ext cx="407569" cy="482461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0154625" y="4935516"/>
            <a:ext cx="427231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The new error term is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978678" y="4427547"/>
            <a:ext cx="3755921" cy="1625539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412420" y="5578348"/>
            <a:ext cx="1430010" cy="629736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006957" y="6494049"/>
            <a:ext cx="303755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so the error is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781318" y="6102705"/>
            <a:ext cx="2358224" cy="150502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1352623" y="7820782"/>
            <a:ext cx="6935377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2DBCB7"/>
                </a:solidFill>
                <a:latin typeface="Now Bold"/>
                <a:ea typeface="Now Bold"/>
                <a:cs typeface="Now Bold"/>
                <a:sym typeface="Now Bold"/>
              </a:rPr>
              <a:t>This is the key</a:t>
            </a: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: The error is now a function of      (the number of subintervals). Doubling     quarters the error!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93163" y="8513190"/>
            <a:ext cx="377909" cy="301893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5510222" y="9069254"/>
            <a:ext cx="377909" cy="301893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3448935" y="1015167"/>
            <a:ext cx="11390130" cy="253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9"/>
              </a:lnSpc>
            </a:pP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ER</a:t>
            </a: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ROR IN COMPOSITE RULES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0839" y="4810058"/>
            <a:ext cx="622373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 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err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or 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or a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single inter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v</a:t>
            </a:r>
            <a:r>
              <a:rPr lang="en-US" b="true" sz="3000" spc="-117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al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0263" y="3940108"/>
            <a:ext cx="6644889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50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</a:t>
            </a:r>
            <a:r>
              <a:rPr lang="en-US" sz="50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IMPLE RULE ERROR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40282" y="3906150"/>
            <a:ext cx="7283671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50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CO</a:t>
            </a:r>
            <a:r>
              <a:rPr lang="en-US" sz="50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MPOSITE RULE ERROR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98159" y="5392716"/>
            <a:ext cx="10678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was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0263" y="6223024"/>
            <a:ext cx="303755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For Trapezoidal,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66009" y="6265449"/>
            <a:ext cx="303755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so the error 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54625" y="5621316"/>
            <a:ext cx="537696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1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For Composite Trapezoidal,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407834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8"/>
                </a:lnTo>
                <a:lnTo>
                  <a:pt x="0" y="2310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-5580006" y="6383791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2" y="0"/>
                </a:lnTo>
                <a:lnTo>
                  <a:pt x="13217412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537821">
            <a:off x="74235" y="4854631"/>
            <a:ext cx="3458282" cy="1673000"/>
          </a:xfrm>
          <a:custGeom>
            <a:avLst/>
            <a:gdLst/>
            <a:ahLst/>
            <a:cxnLst/>
            <a:rect r="r" b="b" t="t" l="l"/>
            <a:pathLst>
              <a:path h="1673000" w="3458282">
                <a:moveTo>
                  <a:pt x="0" y="0"/>
                </a:moveTo>
                <a:lnTo>
                  <a:pt x="3458282" y="0"/>
                </a:lnTo>
                <a:lnTo>
                  <a:pt x="3458282" y="1673000"/>
                </a:lnTo>
                <a:lnTo>
                  <a:pt x="0" y="1673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008093">
            <a:off x="16192135" y="8191360"/>
            <a:ext cx="1212462" cy="798846"/>
          </a:xfrm>
          <a:custGeom>
            <a:avLst/>
            <a:gdLst/>
            <a:ahLst/>
            <a:cxnLst/>
            <a:rect r="r" b="b" t="t" l="l"/>
            <a:pathLst>
              <a:path h="798846" w="1212462">
                <a:moveTo>
                  <a:pt x="0" y="0"/>
                </a:moveTo>
                <a:lnTo>
                  <a:pt x="1212463" y="0"/>
                </a:lnTo>
                <a:lnTo>
                  <a:pt x="1212463" y="798847"/>
                </a:lnTo>
                <a:lnTo>
                  <a:pt x="0" y="798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false" rot="9465714">
            <a:off x="14174713" y="-1547476"/>
            <a:ext cx="4833842" cy="5152351"/>
          </a:xfrm>
          <a:custGeom>
            <a:avLst/>
            <a:gdLst/>
            <a:ahLst/>
            <a:cxnLst/>
            <a:rect r="r" b="b" t="t" l="l"/>
            <a:pathLst>
              <a:path h="5152351" w="4833842">
                <a:moveTo>
                  <a:pt x="4833842" y="0"/>
                </a:moveTo>
                <a:lnTo>
                  <a:pt x="0" y="0"/>
                </a:lnTo>
                <a:lnTo>
                  <a:pt x="0" y="5152352"/>
                </a:lnTo>
                <a:lnTo>
                  <a:pt x="4833842" y="5152352"/>
                </a:lnTo>
                <a:lnTo>
                  <a:pt x="48338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460865" y="3939352"/>
            <a:ext cx="11347221" cy="6012188"/>
            <a:chOff x="0" y="0"/>
            <a:chExt cx="3396904" cy="17998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96904" cy="1799809"/>
            </a:xfrm>
            <a:custGeom>
              <a:avLst/>
              <a:gdLst/>
              <a:ahLst/>
              <a:cxnLst/>
              <a:rect r="r" b="b" t="t" l="l"/>
              <a:pathLst>
                <a:path h="1799809" w="3396904">
                  <a:moveTo>
                    <a:pt x="34796" y="0"/>
                  </a:moveTo>
                  <a:lnTo>
                    <a:pt x="3362108" y="0"/>
                  </a:lnTo>
                  <a:cubicBezTo>
                    <a:pt x="3381325" y="0"/>
                    <a:pt x="3396904" y="15579"/>
                    <a:pt x="3396904" y="34796"/>
                  </a:cubicBezTo>
                  <a:lnTo>
                    <a:pt x="3396904" y="1765013"/>
                  </a:lnTo>
                  <a:cubicBezTo>
                    <a:pt x="3396904" y="1784230"/>
                    <a:pt x="3381325" y="1799809"/>
                    <a:pt x="3362108" y="1799809"/>
                  </a:cubicBezTo>
                  <a:lnTo>
                    <a:pt x="34796" y="1799809"/>
                  </a:lnTo>
                  <a:cubicBezTo>
                    <a:pt x="15579" y="1799809"/>
                    <a:pt x="0" y="1784230"/>
                    <a:pt x="0" y="1765013"/>
                  </a:cubicBezTo>
                  <a:lnTo>
                    <a:pt x="0" y="34796"/>
                  </a:lnTo>
                  <a:cubicBezTo>
                    <a:pt x="0" y="15579"/>
                    <a:pt x="15579" y="0"/>
                    <a:pt x="34796" y="0"/>
                  </a:cubicBezTo>
                  <a:close/>
                </a:path>
              </a:pathLst>
            </a:custGeom>
            <a:solidFill>
              <a:srgbClr val="1D206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396904" cy="1847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944519" y="4194769"/>
            <a:ext cx="10379913" cy="5501354"/>
          </a:xfrm>
          <a:custGeom>
            <a:avLst/>
            <a:gdLst/>
            <a:ahLst/>
            <a:cxnLst/>
            <a:rect r="r" b="b" t="t" l="l"/>
            <a:pathLst>
              <a:path h="5501354" w="10379913">
                <a:moveTo>
                  <a:pt x="0" y="0"/>
                </a:moveTo>
                <a:lnTo>
                  <a:pt x="10379912" y="0"/>
                </a:lnTo>
                <a:lnTo>
                  <a:pt x="10379912" y="5501354"/>
                </a:lnTo>
                <a:lnTo>
                  <a:pt x="0" y="55013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53587" y="691317"/>
            <a:ext cx="15004540" cy="253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9"/>
              </a:lnSpc>
            </a:pP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</a:t>
            </a:r>
            <a:r>
              <a:rPr lang="en-US" sz="99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OMPOSITE TRAPEZOIDAL RULE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6418" y="3208654"/>
            <a:ext cx="15271949" cy="59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5"/>
              </a:lnSpc>
            </a:pPr>
            <a:r>
              <a:rPr lang="en-US" sz="4500">
                <a:solidFill>
                  <a:srgbClr val="2DBCB7"/>
                </a:solidFill>
                <a:latin typeface="Lilita One"/>
                <a:ea typeface="Lilita One"/>
                <a:cs typeface="Lilita One"/>
                <a:sym typeface="Lilita One"/>
              </a:rPr>
              <a:t>THE ALGORITHM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4581">
            <a:off x="-2407334" y="-6603272"/>
            <a:ext cx="23102668" cy="23102668"/>
          </a:xfrm>
          <a:custGeom>
            <a:avLst/>
            <a:gdLst/>
            <a:ahLst/>
            <a:cxnLst/>
            <a:rect r="r" b="b" t="t" l="l"/>
            <a:pathLst>
              <a:path h="23102668" w="23102668">
                <a:moveTo>
                  <a:pt x="0" y="0"/>
                </a:moveTo>
                <a:lnTo>
                  <a:pt x="23102668" y="0"/>
                </a:lnTo>
                <a:lnTo>
                  <a:pt x="23102668" y="23102669"/>
                </a:lnTo>
                <a:lnTo>
                  <a:pt x="0" y="23102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100000">
            <a:off x="3122323" y="4400683"/>
            <a:ext cx="13217412" cy="12594602"/>
          </a:xfrm>
          <a:custGeom>
            <a:avLst/>
            <a:gdLst/>
            <a:ahLst/>
            <a:cxnLst/>
            <a:rect r="r" b="b" t="t" l="l"/>
            <a:pathLst>
              <a:path h="12594602" w="13217412">
                <a:moveTo>
                  <a:pt x="0" y="0"/>
                </a:moveTo>
                <a:lnTo>
                  <a:pt x="13217413" y="0"/>
                </a:lnTo>
                <a:lnTo>
                  <a:pt x="13217413" y="12594602"/>
                </a:lnTo>
                <a:lnTo>
                  <a:pt x="0" y="1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099785" y="4090575"/>
            <a:ext cx="10088430" cy="1052925"/>
            <a:chOff x="0" y="0"/>
            <a:chExt cx="3020072" cy="315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20072" cy="315204"/>
            </a:xfrm>
            <a:custGeom>
              <a:avLst/>
              <a:gdLst/>
              <a:ahLst/>
              <a:cxnLst/>
              <a:rect r="r" b="b" t="t" l="l"/>
              <a:pathLst>
                <a:path h="315204" w="3020072">
                  <a:moveTo>
                    <a:pt x="25324" y="0"/>
                  </a:moveTo>
                  <a:lnTo>
                    <a:pt x="2994748" y="0"/>
                  </a:lnTo>
                  <a:cubicBezTo>
                    <a:pt x="3001464" y="0"/>
                    <a:pt x="3007906" y="2668"/>
                    <a:pt x="3012655" y="7417"/>
                  </a:cubicBezTo>
                  <a:cubicBezTo>
                    <a:pt x="3017404" y="12167"/>
                    <a:pt x="3020072" y="18608"/>
                    <a:pt x="3020072" y="25324"/>
                  </a:cubicBezTo>
                  <a:lnTo>
                    <a:pt x="3020072" y="289879"/>
                  </a:lnTo>
                  <a:cubicBezTo>
                    <a:pt x="3020072" y="296596"/>
                    <a:pt x="3017404" y="303037"/>
                    <a:pt x="3012655" y="307786"/>
                  </a:cubicBezTo>
                  <a:cubicBezTo>
                    <a:pt x="3007906" y="312535"/>
                    <a:pt x="3001464" y="315204"/>
                    <a:pt x="2994748" y="315204"/>
                  </a:cubicBezTo>
                  <a:lnTo>
                    <a:pt x="25324" y="315204"/>
                  </a:lnTo>
                  <a:cubicBezTo>
                    <a:pt x="18608" y="315204"/>
                    <a:pt x="12167" y="312535"/>
                    <a:pt x="7417" y="307786"/>
                  </a:cubicBezTo>
                  <a:cubicBezTo>
                    <a:pt x="2668" y="303037"/>
                    <a:pt x="0" y="296596"/>
                    <a:pt x="0" y="289879"/>
                  </a:cubicBezTo>
                  <a:lnTo>
                    <a:pt x="0" y="25324"/>
                  </a:lnTo>
                  <a:cubicBezTo>
                    <a:pt x="0" y="18608"/>
                    <a:pt x="2668" y="12167"/>
                    <a:pt x="7417" y="7417"/>
                  </a:cubicBezTo>
                  <a:cubicBezTo>
                    <a:pt x="12167" y="2668"/>
                    <a:pt x="18608" y="0"/>
                    <a:pt x="25324" y="0"/>
                  </a:cubicBezTo>
                  <a:close/>
                </a:path>
              </a:pathLst>
            </a:custGeom>
            <a:solidFill>
              <a:srgbClr val="5AA1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020072" cy="362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42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72518" y="2311705"/>
            <a:ext cx="12142964" cy="184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10"/>
              </a:lnSpc>
            </a:pPr>
            <a:r>
              <a:rPr lang="en-US" sz="14134">
                <a:solidFill>
                  <a:srgbClr val="5AA1FF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777097" y="7029450"/>
            <a:ext cx="11075086" cy="7531058"/>
          </a:xfrm>
          <a:custGeom>
            <a:avLst/>
            <a:gdLst/>
            <a:ahLst/>
            <a:cxnLst/>
            <a:rect r="r" b="b" t="t" l="l"/>
            <a:pathLst>
              <a:path h="7531058" w="11075086">
                <a:moveTo>
                  <a:pt x="0" y="0"/>
                </a:moveTo>
                <a:lnTo>
                  <a:pt x="11075086" y="0"/>
                </a:lnTo>
                <a:lnTo>
                  <a:pt x="11075086" y="7531058"/>
                </a:lnTo>
                <a:lnTo>
                  <a:pt x="0" y="75310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48868" y="4190763"/>
            <a:ext cx="5390263" cy="752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0"/>
              </a:lnSpc>
              <a:spcBef>
                <a:spcPct val="0"/>
              </a:spcBef>
            </a:pPr>
            <a:r>
              <a:rPr lang="en-US" b="true" sz="4321" spc="-168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For Your Attention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696519" y="-2058154"/>
            <a:ext cx="5796304" cy="5796304"/>
          </a:xfrm>
          <a:custGeom>
            <a:avLst/>
            <a:gdLst/>
            <a:ahLst/>
            <a:cxnLst/>
            <a:rect r="r" b="b" t="t" l="l"/>
            <a:pathLst>
              <a:path h="5796304" w="5796304">
                <a:moveTo>
                  <a:pt x="0" y="0"/>
                </a:moveTo>
                <a:lnTo>
                  <a:pt x="5796304" y="0"/>
                </a:lnTo>
                <a:lnTo>
                  <a:pt x="5796304" y="5796304"/>
                </a:lnTo>
                <a:lnTo>
                  <a:pt x="0" y="57963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427498">
            <a:off x="13486772" y="-59862"/>
            <a:ext cx="5267908" cy="2177124"/>
          </a:xfrm>
          <a:custGeom>
            <a:avLst/>
            <a:gdLst/>
            <a:ahLst/>
            <a:cxnLst/>
            <a:rect r="r" b="b" t="t" l="l"/>
            <a:pathLst>
              <a:path h="2177124" w="5267908">
                <a:moveTo>
                  <a:pt x="0" y="0"/>
                </a:moveTo>
                <a:lnTo>
                  <a:pt x="5267909" y="0"/>
                </a:lnTo>
                <a:lnTo>
                  <a:pt x="5267909" y="2177124"/>
                </a:lnTo>
                <a:lnTo>
                  <a:pt x="0" y="21771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399107">
            <a:off x="16653069" y="5470557"/>
            <a:ext cx="1212462" cy="798846"/>
          </a:xfrm>
          <a:custGeom>
            <a:avLst/>
            <a:gdLst/>
            <a:ahLst/>
            <a:cxnLst/>
            <a:rect r="r" b="b" t="t" l="l"/>
            <a:pathLst>
              <a:path h="798846" w="1212462">
                <a:moveTo>
                  <a:pt x="0" y="0"/>
                </a:moveTo>
                <a:lnTo>
                  <a:pt x="1212462" y="0"/>
                </a:lnTo>
                <a:lnTo>
                  <a:pt x="1212462" y="798847"/>
                </a:lnTo>
                <a:lnTo>
                  <a:pt x="0" y="7988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-628310">
            <a:off x="1473634" y="7086350"/>
            <a:ext cx="453890" cy="45389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1800" y="0"/>
                  </a:moveTo>
                  <a:lnTo>
                    <a:pt x="381000" y="0"/>
                  </a:lnTo>
                  <a:cubicBezTo>
                    <a:pt x="310860" y="0"/>
                    <a:pt x="254000" y="56860"/>
                    <a:pt x="254000" y="127000"/>
                  </a:cubicBezTo>
                  <a:lnTo>
                    <a:pt x="254000" y="127000"/>
                  </a:lnTo>
                  <a:cubicBezTo>
                    <a:pt x="254000" y="197140"/>
                    <a:pt x="197140" y="254000"/>
                    <a:pt x="127000" y="254000"/>
                  </a:cubicBezTo>
                  <a:lnTo>
                    <a:pt x="127000" y="254000"/>
                  </a:lnTo>
                  <a:cubicBezTo>
                    <a:pt x="56860" y="254000"/>
                    <a:pt x="0" y="310860"/>
                    <a:pt x="0" y="381000"/>
                  </a:cubicBezTo>
                  <a:lnTo>
                    <a:pt x="0" y="431800"/>
                  </a:lnTo>
                  <a:cubicBezTo>
                    <a:pt x="0" y="501940"/>
                    <a:pt x="56860" y="558800"/>
                    <a:pt x="127000" y="558800"/>
                  </a:cubicBezTo>
                  <a:lnTo>
                    <a:pt x="127000" y="558800"/>
                  </a:lnTo>
                  <a:cubicBezTo>
                    <a:pt x="197140" y="558800"/>
                    <a:pt x="254000" y="615660"/>
                    <a:pt x="254000" y="685800"/>
                  </a:cubicBezTo>
                  <a:lnTo>
                    <a:pt x="254000" y="685800"/>
                  </a:lnTo>
                  <a:cubicBezTo>
                    <a:pt x="254000" y="755940"/>
                    <a:pt x="310860" y="812800"/>
                    <a:pt x="381000" y="812800"/>
                  </a:cubicBezTo>
                  <a:lnTo>
                    <a:pt x="431800" y="812800"/>
                  </a:lnTo>
                  <a:cubicBezTo>
                    <a:pt x="501940" y="812800"/>
                    <a:pt x="558800" y="755940"/>
                    <a:pt x="558800" y="685800"/>
                  </a:cubicBezTo>
                  <a:lnTo>
                    <a:pt x="558800" y="685800"/>
                  </a:lnTo>
                  <a:cubicBezTo>
                    <a:pt x="558800" y="615660"/>
                    <a:pt x="615660" y="558800"/>
                    <a:pt x="685800" y="558800"/>
                  </a:cubicBezTo>
                  <a:lnTo>
                    <a:pt x="685800" y="558800"/>
                  </a:lnTo>
                  <a:cubicBezTo>
                    <a:pt x="755940" y="558800"/>
                    <a:pt x="812800" y="501940"/>
                    <a:pt x="812800" y="431800"/>
                  </a:cubicBezTo>
                  <a:lnTo>
                    <a:pt x="812800" y="381000"/>
                  </a:lnTo>
                  <a:cubicBezTo>
                    <a:pt x="812800" y="310860"/>
                    <a:pt x="755940" y="254000"/>
                    <a:pt x="685800" y="254000"/>
                  </a:cubicBezTo>
                  <a:lnTo>
                    <a:pt x="685800" y="254000"/>
                  </a:lnTo>
                  <a:cubicBezTo>
                    <a:pt x="615660" y="254000"/>
                    <a:pt x="558800" y="197140"/>
                    <a:pt x="558800" y="127000"/>
                  </a:cubicBezTo>
                  <a:lnTo>
                    <a:pt x="558800" y="127000"/>
                  </a:lnTo>
                  <a:cubicBezTo>
                    <a:pt x="558800" y="56860"/>
                    <a:pt x="501940" y="0"/>
                    <a:pt x="431800" y="0"/>
                  </a:cubicBezTo>
                  <a:close/>
                </a:path>
              </a:pathLst>
            </a:custGeom>
            <a:solidFill>
              <a:srgbClr val="FFFEF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DAG4QQlaCwg</dc:identifier>
  <dcterms:modified xsi:type="dcterms:W3CDTF">2011-08-01T06:04:30Z</dcterms:modified>
  <cp:revision>1</cp:revision>
  <dc:title>Numerical Calculus</dc:title>
</cp:coreProperties>
</file>